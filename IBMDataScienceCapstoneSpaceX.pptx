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6858000" cx="9144000"/>
  <p:notesSz cx="6858000" cy="9144000"/>
  <p:embeddedFontLst>
    <p:embeddedFont>
      <p:font typeface="Roboto Mono"/>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Mono-boldItalic.fntdata"/><Relationship Id="rId70" Type="http://schemas.openxmlformats.org/officeDocument/2006/relationships/font" Target="fonts/RobotoMono-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obotoMono-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Mono-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50ff8a9383_0_4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50ff8a9383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50e254a63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50e254a6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50e254a63a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50e254a63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50e254a63a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50e254a63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50ff8a9383_0_4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50ff8a9383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50e254a63a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50e254a63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50e254a63a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50e254a63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0e254a63a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50e254a63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0e254a63a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50e254a63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0e254a63a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50e254a63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50ff8a938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50ff8a938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50ff8a938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50ff8a938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50ff8a9383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50ff8a938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50ff8a9383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50ff8a938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50ff8a9383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50ff8a9383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50ff8a9383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50ff8a9383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50ff8a9383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50ff8a9383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50ff8a9383_0_1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50ff8a9383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50ff8a9383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50ff8a938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50ff8a9383_0_1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50ff8a9383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50ff8a9383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50ff8a938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50ff8a9383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50ff8a9383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50ff8a9383_0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50ff8a938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50ff8a9383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50ff8a9383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50ff8a9383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50ff8a938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50ff8a9383_0_1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50ff8a9383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50ff8a9383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50ff8a938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50ff8a938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50ff8a93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50ff8a9383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50ff8a9383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50ff8a9383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50ff8a9383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50ff8a9383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50ff8a9383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0ff8a9383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50ff8a9383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50ff8a9383_0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50ff8a9383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50ff8a9383_0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50ff8a9383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50ff8a9383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50ff8a9383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50ff8a9383_0_2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50ff8a9383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50ff8a9383_0_2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50ff8a9383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50ff8a9383_0_2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50ff8a9383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50ff8a9383_0_2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50ff8a9383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50ff8a9383_0_2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50ff8a9383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50ff8a9383_0_2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50ff8a9383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50ff8a9383_0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50ff8a9383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50ff8a9383_0_2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50ff8a9383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50ff8a9383_0_2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50ff8a9383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50ff8a9383_0_2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50ff8a9383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50ff8a9383_0_3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50ff8a9383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50ff8a9383_0_3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50ff8a9383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50ff8a9383_0_3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50ff8a9383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50ff8a9383_0_3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50ff8a9383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50ff8a9383_0_3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50ff8a9383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50ff8a9383_0_3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50ff8a9383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50ff8a9383_0_3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50ff8a9383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50ff8a9383_0_3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50ff8a9383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50ff8a9383_0_3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50ff8a9383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50ff8a9383_0_3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50ff8a9383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50ff8a9383_0_3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50ff8a9383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50ff8a9383_0_4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50ff8a9383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50ff8a9383_0_3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50ff8a9383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50ff8a9383_0_4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50ff8a9383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50ff8a9383_0_4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50ff8a9383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50ff8a9383_0_4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50ff8a9383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png"/><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3.png"/><Relationship Id="rId4"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85" name="Google Shape;85;p13"/>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86" name="Google Shape;86;p13" title="Launch_labeled.jpg"/>
          <p:cNvPicPr preferRelativeResize="0"/>
          <p:nvPr/>
        </p:nvPicPr>
        <p:blipFill>
          <a:blip r:embed="rId3">
            <a:alphaModFix/>
          </a:blip>
          <a:stretch>
            <a:fillRect/>
          </a:stretch>
        </p:blipFill>
        <p:spPr>
          <a:xfrm>
            <a:off x="0" y="381744"/>
            <a:ext cx="9144003" cy="60945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Executive Summary</a:t>
            </a:r>
            <a:endParaRPr/>
          </a:p>
        </p:txBody>
      </p:sp>
      <p:sp>
        <p:nvSpPr>
          <p:cNvPr id="92" name="Google Shape;92;p14"/>
          <p:cNvSpPr txBox="1"/>
          <p:nvPr>
            <p:ph idx="1" type="body"/>
          </p:nvPr>
        </p:nvSpPr>
        <p:spPr>
          <a:xfrm>
            <a:off x="500075" y="1685925"/>
            <a:ext cx="8229600" cy="4526100"/>
          </a:xfrm>
          <a:prstGeom prst="rect">
            <a:avLst/>
          </a:prstGeom>
        </p:spPr>
        <p:txBody>
          <a:bodyPr anchorCtr="0" anchor="t" bIns="45700" lIns="91425" spcFirstLastPara="1" rIns="91425" wrap="square" tIns="45700">
            <a:normAutofit fontScale="92500" lnSpcReduction="20000"/>
          </a:bodyPr>
          <a:lstStyle/>
          <a:p>
            <a:pPr indent="0" lvl="0" marL="0" rtl="0" algn="l">
              <a:lnSpc>
                <a:spcPct val="115000"/>
              </a:lnSpc>
              <a:spcBef>
                <a:spcPts val="1800"/>
              </a:spcBef>
              <a:spcAft>
                <a:spcPts val="0"/>
              </a:spcAft>
              <a:buClr>
                <a:schemeClr val="dk1"/>
              </a:buClr>
              <a:buSzPct val="61111"/>
              <a:buFont typeface="Arial"/>
              <a:buNone/>
            </a:pPr>
            <a:r>
              <a:t/>
            </a:r>
            <a:endParaRPr b="1" sz="1800">
              <a:latin typeface="Arial"/>
              <a:ea typeface="Arial"/>
              <a:cs typeface="Arial"/>
              <a:sym typeface="Arial"/>
            </a:endParaRPr>
          </a:p>
          <a:p>
            <a:pPr indent="-334327" lvl="0" marL="457200" rtl="0" algn="l">
              <a:lnSpc>
                <a:spcPct val="115000"/>
              </a:lnSpc>
              <a:spcBef>
                <a:spcPts val="1800"/>
              </a:spcBef>
              <a:spcAft>
                <a:spcPts val="0"/>
              </a:spcAft>
              <a:buSzPct val="100000"/>
              <a:buChar char="●"/>
            </a:pPr>
            <a:r>
              <a:rPr b="1" lang="en-US" sz="1800">
                <a:latin typeface="Arial"/>
                <a:ea typeface="Arial"/>
                <a:cs typeface="Arial"/>
                <a:sym typeface="Arial"/>
              </a:rPr>
              <a:t>The project aims to predict the landing success of SpaceX Falcon 9 first-stage rockets.</a:t>
            </a:r>
            <a:br>
              <a:rPr b="1" lang="en-US" sz="1800">
                <a:latin typeface="Arial"/>
                <a:ea typeface="Arial"/>
                <a:cs typeface="Arial"/>
                <a:sym typeface="Arial"/>
              </a:rPr>
            </a:br>
            <a:endParaRPr b="1" sz="1800">
              <a:latin typeface="Arial"/>
              <a:ea typeface="Arial"/>
              <a:cs typeface="Arial"/>
              <a:sym typeface="Arial"/>
            </a:endParaRPr>
          </a:p>
          <a:p>
            <a:pPr indent="-334327" lvl="0" marL="457200" rtl="0" algn="l">
              <a:lnSpc>
                <a:spcPct val="115000"/>
              </a:lnSpc>
              <a:spcBef>
                <a:spcPts val="0"/>
              </a:spcBef>
              <a:spcAft>
                <a:spcPts val="0"/>
              </a:spcAft>
              <a:buSzPct val="100000"/>
              <a:buChar char="●"/>
            </a:pPr>
            <a:r>
              <a:rPr b="1" lang="en-US" sz="1800">
                <a:latin typeface="Arial"/>
                <a:ea typeface="Arial"/>
                <a:cs typeface="Arial"/>
                <a:sym typeface="Arial"/>
              </a:rPr>
              <a:t>Accurate predictions help estimate launch costs, crucial for competition and risk assessment.</a:t>
            </a:r>
            <a:br>
              <a:rPr b="1" lang="en-US" sz="1800">
                <a:latin typeface="Arial"/>
                <a:ea typeface="Arial"/>
                <a:cs typeface="Arial"/>
                <a:sym typeface="Arial"/>
              </a:rPr>
            </a:br>
            <a:endParaRPr b="1" sz="1800">
              <a:latin typeface="Arial"/>
              <a:ea typeface="Arial"/>
              <a:cs typeface="Arial"/>
              <a:sym typeface="Arial"/>
            </a:endParaRPr>
          </a:p>
          <a:p>
            <a:pPr indent="-334327" lvl="0" marL="457200" rtl="0" algn="l">
              <a:lnSpc>
                <a:spcPct val="115000"/>
              </a:lnSpc>
              <a:spcBef>
                <a:spcPts val="0"/>
              </a:spcBef>
              <a:spcAft>
                <a:spcPts val="0"/>
              </a:spcAft>
              <a:buSzPct val="100000"/>
              <a:buChar char="●"/>
            </a:pPr>
            <a:r>
              <a:rPr b="1" lang="en-US" sz="1800">
                <a:latin typeface="Arial"/>
                <a:ea typeface="Arial"/>
                <a:cs typeface="Arial"/>
                <a:sym typeface="Arial"/>
              </a:rPr>
              <a:t>SpaceX public API data was collected, cleaned, and structured for analysis.</a:t>
            </a:r>
            <a:br>
              <a:rPr b="1" lang="en-US" sz="1800">
                <a:latin typeface="Arial"/>
                <a:ea typeface="Arial"/>
                <a:cs typeface="Arial"/>
                <a:sym typeface="Arial"/>
              </a:rPr>
            </a:br>
            <a:endParaRPr b="1" sz="1800">
              <a:latin typeface="Arial"/>
              <a:ea typeface="Arial"/>
              <a:cs typeface="Arial"/>
              <a:sym typeface="Arial"/>
            </a:endParaRPr>
          </a:p>
          <a:p>
            <a:pPr indent="-334327" lvl="0" marL="457200" rtl="0" algn="l">
              <a:lnSpc>
                <a:spcPct val="115000"/>
              </a:lnSpc>
              <a:spcBef>
                <a:spcPts val="0"/>
              </a:spcBef>
              <a:spcAft>
                <a:spcPts val="0"/>
              </a:spcAft>
              <a:buSzPct val="100000"/>
              <a:buChar char="●"/>
            </a:pPr>
            <a:r>
              <a:rPr b="1" lang="en-US" sz="1800">
                <a:latin typeface="Arial"/>
                <a:ea typeface="Arial"/>
                <a:cs typeface="Arial"/>
                <a:sym typeface="Arial"/>
              </a:rPr>
              <a:t>Predictive models will be developed to forecast landing outcomes based on mission parameters.</a:t>
            </a:r>
            <a:br>
              <a:rPr b="1" lang="en-US" sz="1800">
                <a:latin typeface="Arial"/>
                <a:ea typeface="Arial"/>
                <a:cs typeface="Arial"/>
                <a:sym typeface="Arial"/>
              </a:rPr>
            </a:br>
            <a:endParaRPr b="1" sz="1800">
              <a:latin typeface="Arial"/>
              <a:ea typeface="Arial"/>
              <a:cs typeface="Arial"/>
              <a:sym typeface="Arial"/>
            </a:endParaRPr>
          </a:p>
          <a:p>
            <a:pPr indent="-334327" lvl="0" marL="457200" rtl="0" algn="l">
              <a:lnSpc>
                <a:spcPct val="115000"/>
              </a:lnSpc>
              <a:spcBef>
                <a:spcPts val="0"/>
              </a:spcBef>
              <a:spcAft>
                <a:spcPts val="0"/>
              </a:spcAft>
              <a:buSzPct val="100000"/>
              <a:buChar char="●"/>
            </a:pPr>
            <a:r>
              <a:rPr b="1" lang="en-US" sz="1800">
                <a:latin typeface="Arial"/>
                <a:ea typeface="Arial"/>
                <a:cs typeface="Arial"/>
                <a:sym typeface="Arial"/>
              </a:rPr>
              <a:t>This work supports cost-effective launch services and strategic market insights.</a:t>
            </a:r>
            <a:endParaRPr b="1" sz="18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Introduction</a:t>
            </a:r>
            <a:endParaRPr/>
          </a:p>
        </p:txBody>
      </p:sp>
      <p:sp>
        <p:nvSpPr>
          <p:cNvPr id="98" name="Google Shape;98;p15"/>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70000" lnSpcReduction="20000"/>
          </a:bodyPr>
          <a:lstStyle/>
          <a:p>
            <a:pPr indent="0" lvl="0" marL="0" rtl="0" algn="l">
              <a:spcBef>
                <a:spcPts val="360"/>
              </a:spcBef>
              <a:spcAft>
                <a:spcPts val="0"/>
              </a:spcAft>
              <a:buClr>
                <a:schemeClr val="dk1"/>
              </a:buClr>
              <a:buSzPct val="34375"/>
              <a:buFont typeface="Arial"/>
              <a:buNone/>
            </a:pPr>
            <a:r>
              <a:rPr lang="en-US"/>
              <a:t>SpaceX's Falcon 9 rocket reduces launch costs by reusing its first stage after landing.</a:t>
            </a:r>
            <a:br>
              <a:rPr lang="en-US"/>
            </a:br>
            <a:endParaRPr/>
          </a:p>
          <a:p>
            <a:pPr indent="0" lvl="0" marL="0" rtl="0" algn="l">
              <a:spcBef>
                <a:spcPts val="360"/>
              </a:spcBef>
              <a:spcAft>
                <a:spcPts val="0"/>
              </a:spcAft>
              <a:buClr>
                <a:schemeClr val="dk1"/>
              </a:buClr>
              <a:buSzPct val="34375"/>
              <a:buFont typeface="Arial"/>
              <a:buNone/>
            </a:pPr>
            <a:r>
              <a:rPr lang="en-US"/>
              <a:t>Successful first-stage landings are critical to the cost-efficiency of space missions.</a:t>
            </a:r>
            <a:br>
              <a:rPr lang="en-US"/>
            </a:br>
            <a:endParaRPr/>
          </a:p>
          <a:p>
            <a:pPr indent="0" lvl="0" marL="0" rtl="0" algn="l">
              <a:spcBef>
                <a:spcPts val="360"/>
              </a:spcBef>
              <a:spcAft>
                <a:spcPts val="0"/>
              </a:spcAft>
              <a:buClr>
                <a:schemeClr val="dk1"/>
              </a:buClr>
              <a:buSzPct val="34375"/>
              <a:buFont typeface="Arial"/>
              <a:buNone/>
            </a:pPr>
            <a:r>
              <a:rPr lang="en-US"/>
              <a:t>Predicting landing success can help competitors accurately estimate mission costs.</a:t>
            </a:r>
            <a:br>
              <a:rPr lang="en-US"/>
            </a:br>
            <a:endParaRPr/>
          </a:p>
          <a:p>
            <a:pPr indent="0" lvl="0" marL="0" rtl="0" algn="l">
              <a:spcBef>
                <a:spcPts val="360"/>
              </a:spcBef>
              <a:spcAft>
                <a:spcPts val="0"/>
              </a:spcAft>
              <a:buClr>
                <a:schemeClr val="dk1"/>
              </a:buClr>
              <a:buSzPct val="34375"/>
              <a:buFont typeface="Arial"/>
              <a:buNone/>
            </a:pPr>
            <a:r>
              <a:rPr lang="en-US"/>
              <a:t>This project focuses on collecting SpaceX launch data and building predictive models.</a:t>
            </a:r>
            <a:br>
              <a:rPr lang="en-US"/>
            </a:br>
            <a:endParaRPr/>
          </a:p>
          <a:p>
            <a:pPr indent="0" lvl="0" marL="0" rtl="0" algn="l">
              <a:spcBef>
                <a:spcPts val="360"/>
              </a:spcBef>
              <a:spcAft>
                <a:spcPts val="0"/>
              </a:spcAft>
              <a:buClr>
                <a:schemeClr val="dk1"/>
              </a:buClr>
              <a:buSzPct val="34375"/>
              <a:buFont typeface="Arial"/>
              <a:buNone/>
            </a:pPr>
            <a:r>
              <a:rPr lang="en-US"/>
              <a:t>Our goal is to support strategic planning for space launch providers.</a:t>
            </a:r>
            <a:endParaRPr/>
          </a:p>
          <a:p>
            <a:pPr indent="0" lvl="0" marL="0" rtl="0" algn="l">
              <a:spcBef>
                <a:spcPts val="36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Data Collection</a:t>
            </a:r>
            <a:endParaRPr/>
          </a:p>
        </p:txBody>
      </p:sp>
      <p:sp>
        <p:nvSpPr>
          <p:cNvPr id="104" name="Google Shape;104;p16"/>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800">
                <a:latin typeface="Arial"/>
                <a:ea typeface="Arial"/>
                <a:cs typeface="Arial"/>
                <a:sym typeface="Arial"/>
              </a:rPr>
              <a:t>Bullet Points:</a:t>
            </a:r>
            <a:endParaRPr b="1" sz="1800">
              <a:latin typeface="Arial"/>
              <a:ea typeface="Arial"/>
              <a:cs typeface="Arial"/>
              <a:sym typeface="Arial"/>
            </a:endParaRPr>
          </a:p>
          <a:p>
            <a:pPr indent="-342900" lvl="0" marL="457200" rtl="0" algn="l">
              <a:lnSpc>
                <a:spcPct val="115000"/>
              </a:lnSpc>
              <a:spcBef>
                <a:spcPts val="1800"/>
              </a:spcBef>
              <a:spcAft>
                <a:spcPts val="0"/>
              </a:spcAft>
              <a:buSzPts val="1800"/>
              <a:buChar char="●"/>
            </a:pPr>
            <a:r>
              <a:rPr lang="en-US" sz="1800">
                <a:latin typeface="Arial"/>
                <a:ea typeface="Arial"/>
                <a:cs typeface="Arial"/>
                <a:sym typeface="Arial"/>
              </a:rPr>
              <a:t>Data collected from SpaceX public API: </a:t>
            </a:r>
            <a:r>
              <a:rPr lang="en-US" sz="1800">
                <a:solidFill>
                  <a:srgbClr val="188038"/>
                </a:solidFill>
                <a:latin typeface="Roboto Mono"/>
                <a:ea typeface="Roboto Mono"/>
                <a:cs typeface="Roboto Mono"/>
                <a:sym typeface="Roboto Mono"/>
              </a:rPr>
              <a:t>https://api.spacexdata.com/v4/launches</a:t>
            </a:r>
            <a:br>
              <a:rPr lang="en-US" sz="1800">
                <a:solidFill>
                  <a:srgbClr val="188038"/>
                </a:solidFill>
                <a:latin typeface="Roboto Mono"/>
                <a:ea typeface="Roboto Mono"/>
                <a:cs typeface="Roboto Mono"/>
                <a:sym typeface="Roboto Mono"/>
              </a:rPr>
            </a:br>
            <a:endParaRPr sz="1800">
              <a:solidFill>
                <a:srgbClr val="188038"/>
              </a:solidFill>
              <a:latin typeface="Roboto Mono"/>
              <a:ea typeface="Roboto Mono"/>
              <a:cs typeface="Roboto Mono"/>
              <a:sym typeface="Roboto Mono"/>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Extracted launch details: date, rocket type, launch site, payload mass, orbit, launch and landing outcomes.</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Additional data linked using Rocket, Payload, and Launchpad IDs.</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Data pulled using Python </a:t>
            </a:r>
            <a:r>
              <a:rPr lang="en-US" sz="1800">
                <a:solidFill>
                  <a:srgbClr val="188038"/>
                </a:solidFill>
                <a:latin typeface="Roboto Mono"/>
                <a:ea typeface="Roboto Mono"/>
                <a:cs typeface="Roboto Mono"/>
                <a:sym typeface="Roboto Mono"/>
              </a:rPr>
              <a:t>requests</a:t>
            </a:r>
            <a:r>
              <a:rPr lang="en-US" sz="1800">
                <a:latin typeface="Arial"/>
                <a:ea typeface="Arial"/>
                <a:cs typeface="Arial"/>
                <a:sym typeface="Arial"/>
              </a:rPr>
              <a:t> library and parsed into a Pandas DataFrame.</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Focused on first-stage landing success as the main target variable</a:t>
            </a:r>
            <a:endParaRPr sz="1800">
              <a:latin typeface="Arial"/>
              <a:ea typeface="Arial"/>
              <a:cs typeface="Arial"/>
              <a:sym typeface="Arial"/>
            </a:endParaRPr>
          </a:p>
          <a:p>
            <a:pPr indent="0" lvl="0" marL="0" rtl="0" algn="l">
              <a:spcBef>
                <a:spcPts val="1800"/>
              </a:spcBef>
              <a:spcAft>
                <a:spcPts val="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Methodology</a:t>
            </a:r>
            <a:endParaRPr/>
          </a:p>
        </p:txBody>
      </p:sp>
      <p:sp>
        <p:nvSpPr>
          <p:cNvPr id="110" name="Google Shape;110;p1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92500" lnSpcReduction="20000"/>
          </a:bodyPr>
          <a:lstStyle/>
          <a:p>
            <a:pPr indent="0" lvl="0" marL="0" rtl="0" algn="l">
              <a:spcBef>
                <a:spcPts val="360"/>
              </a:spcBef>
              <a:spcAft>
                <a:spcPts val="0"/>
              </a:spcAft>
              <a:buClr>
                <a:schemeClr val="dk1"/>
              </a:buClr>
              <a:buSzPct val="34375"/>
              <a:buFont typeface="Arial"/>
              <a:buNone/>
            </a:pPr>
            <a:r>
              <a:rPr lang="en-US"/>
              <a:t>Data preprocessing and cleaning from multiple sources.</a:t>
            </a:r>
            <a:br>
              <a:rPr lang="en-US"/>
            </a:br>
            <a:endParaRPr/>
          </a:p>
          <a:p>
            <a:pPr indent="0" lvl="0" marL="0" rtl="0" algn="l">
              <a:spcBef>
                <a:spcPts val="360"/>
              </a:spcBef>
              <a:spcAft>
                <a:spcPts val="0"/>
              </a:spcAft>
              <a:buClr>
                <a:schemeClr val="dk1"/>
              </a:buClr>
              <a:buSzPct val="34375"/>
              <a:buFont typeface="Arial"/>
              <a:buNone/>
            </a:pPr>
            <a:r>
              <a:rPr lang="en-US"/>
              <a:t>Feature engineering (e.g., seasonality, environmental conditions).</a:t>
            </a:r>
            <a:br>
              <a:rPr lang="en-US"/>
            </a:br>
            <a:endParaRPr/>
          </a:p>
          <a:p>
            <a:pPr indent="0" lvl="0" marL="0" rtl="0" algn="l">
              <a:spcBef>
                <a:spcPts val="360"/>
              </a:spcBef>
              <a:spcAft>
                <a:spcPts val="0"/>
              </a:spcAft>
              <a:buClr>
                <a:schemeClr val="dk1"/>
              </a:buClr>
              <a:buSzPct val="34375"/>
              <a:buFont typeface="Arial"/>
              <a:buNone/>
            </a:pPr>
            <a:r>
              <a:rPr lang="en-US"/>
              <a:t>Model used: Gradient Boosting Classifier for binary prediction.</a:t>
            </a:r>
            <a:br>
              <a:rPr lang="en-US"/>
            </a:br>
            <a:endParaRPr/>
          </a:p>
          <a:p>
            <a:pPr indent="0" lvl="0" marL="0" rtl="0" algn="l">
              <a:spcBef>
                <a:spcPts val="360"/>
              </a:spcBef>
              <a:spcAft>
                <a:spcPts val="0"/>
              </a:spcAft>
              <a:buClr>
                <a:schemeClr val="dk1"/>
              </a:buClr>
              <a:buSzPct val="34375"/>
              <a:buFont typeface="Arial"/>
              <a:buNone/>
            </a:pPr>
            <a:r>
              <a:rPr lang="en-US"/>
              <a:t>Train/test split and evaluation metrics applied.</a:t>
            </a:r>
            <a:endParaRPr/>
          </a:p>
          <a:p>
            <a:pPr indent="0" lvl="0" marL="0" rtl="0" algn="l">
              <a:spcBef>
                <a:spcPts val="36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Data Wrangling</a:t>
            </a:r>
            <a:endParaRPr/>
          </a:p>
        </p:txBody>
      </p:sp>
      <p:sp>
        <p:nvSpPr>
          <p:cNvPr id="116" name="Google Shape;116;p18"/>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70000" lnSpcReduction="20000"/>
          </a:bodyPr>
          <a:lstStyle/>
          <a:p>
            <a:pPr indent="0" lvl="0" marL="0" rtl="0" algn="l">
              <a:spcBef>
                <a:spcPts val="360"/>
              </a:spcBef>
              <a:spcAft>
                <a:spcPts val="0"/>
              </a:spcAft>
              <a:buClr>
                <a:schemeClr val="dk1"/>
              </a:buClr>
              <a:buSzPct val="34375"/>
              <a:buFont typeface="Arial"/>
              <a:buNone/>
            </a:pPr>
            <a:r>
              <a:rPr lang="en-US"/>
              <a:t>Formatted dates properly (UTC to readable formats).</a:t>
            </a:r>
            <a:br>
              <a:rPr lang="en-US"/>
            </a:br>
            <a:endParaRPr/>
          </a:p>
          <a:p>
            <a:pPr indent="0" lvl="0" marL="0" rtl="0" algn="l">
              <a:spcBef>
                <a:spcPts val="360"/>
              </a:spcBef>
              <a:spcAft>
                <a:spcPts val="0"/>
              </a:spcAft>
              <a:buClr>
                <a:schemeClr val="dk1"/>
              </a:buClr>
              <a:buSzPct val="34375"/>
              <a:buFont typeface="Arial"/>
              <a:buNone/>
            </a:pPr>
            <a:r>
              <a:rPr lang="en-US"/>
              <a:t>Filtered launches with missing critical information (landing outcome, payload mass).</a:t>
            </a:r>
            <a:br>
              <a:rPr lang="en-US"/>
            </a:br>
            <a:endParaRPr/>
          </a:p>
          <a:p>
            <a:pPr indent="0" lvl="0" marL="0" rtl="0" algn="l">
              <a:spcBef>
                <a:spcPts val="360"/>
              </a:spcBef>
              <a:spcAft>
                <a:spcPts val="0"/>
              </a:spcAft>
              <a:buClr>
                <a:schemeClr val="dk1"/>
              </a:buClr>
              <a:buSzPct val="34375"/>
              <a:buFont typeface="Arial"/>
              <a:buNone/>
            </a:pPr>
            <a:r>
              <a:rPr lang="en-US"/>
              <a:t>Standardized categorical variables (launch site names, orbit types).</a:t>
            </a:r>
            <a:br>
              <a:rPr lang="en-US"/>
            </a:br>
            <a:endParaRPr/>
          </a:p>
          <a:p>
            <a:pPr indent="0" lvl="0" marL="0" rtl="0" algn="l">
              <a:spcBef>
                <a:spcPts val="360"/>
              </a:spcBef>
              <a:spcAft>
                <a:spcPts val="0"/>
              </a:spcAft>
              <a:buClr>
                <a:schemeClr val="dk1"/>
              </a:buClr>
              <a:buSzPct val="34375"/>
              <a:buFont typeface="Arial"/>
              <a:buNone/>
            </a:pPr>
            <a:r>
              <a:rPr lang="en-US"/>
              <a:t>Extracted nested JSON fields such as core landing outcomes.</a:t>
            </a:r>
            <a:br>
              <a:rPr lang="en-US"/>
            </a:br>
            <a:endParaRPr/>
          </a:p>
          <a:p>
            <a:pPr indent="0" lvl="0" marL="0" rtl="0" algn="l">
              <a:spcBef>
                <a:spcPts val="360"/>
              </a:spcBef>
              <a:spcAft>
                <a:spcPts val="0"/>
              </a:spcAft>
              <a:buClr>
                <a:schemeClr val="dk1"/>
              </a:buClr>
              <a:buSzPct val="34375"/>
              <a:buFont typeface="Arial"/>
              <a:buNone/>
            </a:pPr>
            <a:r>
              <a:rPr lang="en-US"/>
              <a:t>Engineered features like payload mass, orbit type, and reused rocket indicators.</a:t>
            </a:r>
            <a:br>
              <a:rPr lang="en-US"/>
            </a:br>
            <a:endParaRPr/>
          </a:p>
          <a:p>
            <a:pPr indent="0" lvl="0" marL="0" rtl="0" algn="l">
              <a:spcBef>
                <a:spcPts val="360"/>
              </a:spcBef>
              <a:spcAft>
                <a:spcPts val="0"/>
              </a:spcAft>
              <a:buClr>
                <a:schemeClr val="dk1"/>
              </a:buClr>
              <a:buSzPct val="34375"/>
              <a:buFont typeface="Arial"/>
              <a:buNone/>
            </a:pPr>
            <a:r>
              <a:rPr lang="en-US"/>
              <a:t>Final clean dataset used for machine learning modeling.</a:t>
            </a:r>
            <a:endParaRPr/>
          </a:p>
          <a:p>
            <a:pPr indent="0" lvl="0" marL="0" rtl="0" algn="l">
              <a:spcBef>
                <a:spcPts val="36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3300">
                <a:latin typeface="Arial"/>
                <a:ea typeface="Arial"/>
                <a:cs typeface="Arial"/>
                <a:sym typeface="Arial"/>
              </a:rPr>
              <a:t>Exploratory Data Analysis (EDA)</a:t>
            </a:r>
            <a:endParaRPr sz="6600"/>
          </a:p>
        </p:txBody>
      </p:sp>
      <p:sp>
        <p:nvSpPr>
          <p:cNvPr id="122" name="Google Shape;122;p1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Used </a:t>
            </a:r>
            <a:r>
              <a:rPr lang="en-US" sz="1800">
                <a:solidFill>
                  <a:srgbClr val="188038"/>
                </a:solidFill>
                <a:latin typeface="Roboto Mono"/>
                <a:ea typeface="Roboto Mono"/>
                <a:cs typeface="Roboto Mono"/>
                <a:sym typeface="Roboto Mono"/>
              </a:rPr>
              <a:t>pandas</a:t>
            </a:r>
            <a:r>
              <a:rPr lang="en-US" sz="1800">
                <a:latin typeface="Arial"/>
                <a:ea typeface="Arial"/>
                <a:cs typeface="Arial"/>
                <a:sym typeface="Arial"/>
              </a:rPr>
              <a:t> and </a:t>
            </a:r>
            <a:r>
              <a:rPr lang="en-US" sz="1800">
                <a:solidFill>
                  <a:srgbClr val="188038"/>
                </a:solidFill>
                <a:latin typeface="Roboto Mono"/>
                <a:ea typeface="Roboto Mono"/>
                <a:cs typeface="Roboto Mono"/>
                <a:sym typeface="Roboto Mono"/>
              </a:rPr>
              <a:t>matplotlib</a:t>
            </a:r>
            <a:r>
              <a:rPr lang="en-US" sz="1800">
                <a:latin typeface="Arial"/>
                <a:ea typeface="Arial"/>
                <a:cs typeface="Arial"/>
                <a:sym typeface="Arial"/>
              </a:rPr>
              <a:t> for initial data exploration and visualization.</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Analyzed distribution of key variables (e.g., launch date, payload mass, rocket type).</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Checked for correlations between features like payload mass and launch success.</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Visualized landing success by various factors using histograms, box plots, and scatter plots.</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Identified key trends, such as payload mass potentially influencing landing success.</a:t>
            </a:r>
            <a:endParaRPr sz="1800">
              <a:latin typeface="Arial"/>
              <a:ea typeface="Arial"/>
              <a:cs typeface="Arial"/>
              <a:sym typeface="Arial"/>
            </a:endParaRPr>
          </a:p>
          <a:p>
            <a:pPr indent="0" lvl="0" marL="0" rtl="0" algn="l">
              <a:spcBef>
                <a:spcPts val="360"/>
              </a:spcBef>
              <a:spcAft>
                <a:spcPts val="0"/>
              </a:spcAft>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3200">
                <a:latin typeface="Arial"/>
                <a:ea typeface="Arial"/>
                <a:cs typeface="Arial"/>
                <a:sym typeface="Arial"/>
              </a:rPr>
              <a:t>Interactive Visual Analytics</a:t>
            </a:r>
            <a:endParaRPr sz="6500"/>
          </a:p>
        </p:txBody>
      </p:sp>
      <p:sp>
        <p:nvSpPr>
          <p:cNvPr id="128" name="Google Shape;128;p2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Used </a:t>
            </a:r>
            <a:r>
              <a:rPr b="1" lang="en-US" sz="1800">
                <a:latin typeface="Arial"/>
                <a:ea typeface="Arial"/>
                <a:cs typeface="Arial"/>
                <a:sym typeface="Arial"/>
              </a:rPr>
              <a:t>Plotly</a:t>
            </a:r>
            <a:r>
              <a:rPr lang="en-US" sz="1800">
                <a:latin typeface="Arial"/>
                <a:ea typeface="Arial"/>
                <a:cs typeface="Arial"/>
                <a:sym typeface="Arial"/>
              </a:rPr>
              <a:t> for creating interactive plots, such as scatter plots and bar charts.</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Created a dashboard to filter launch data based on features like launch site and rocket type.</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Built interactive visualizations to explore relationships between payload mass and landing success.</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Allowed deeper insights into patterns by enabling user-controlled filtering and zooming.</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Visual analytics facilitated better understanding of data trends and model insights.</a:t>
            </a:r>
            <a:endParaRPr sz="1800">
              <a:latin typeface="Arial"/>
              <a:ea typeface="Arial"/>
              <a:cs typeface="Arial"/>
              <a:sym typeface="Arial"/>
            </a:endParaRPr>
          </a:p>
          <a:p>
            <a:pPr indent="0" lvl="0" marL="0" rtl="0" algn="l">
              <a:spcBef>
                <a:spcPts val="360"/>
              </a:spcBef>
              <a:spcAft>
                <a:spcPts val="0"/>
              </a:spcAft>
              <a:buNone/>
            </a:pPr>
            <a:r>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Predictive Analysis Methodology</a:t>
            </a:r>
            <a:endParaRPr/>
          </a:p>
        </p:txBody>
      </p:sp>
      <p:sp>
        <p:nvSpPr>
          <p:cNvPr id="134" name="Google Shape;134;p21"/>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rPr b="1" lang="en-US" sz="1800">
                <a:latin typeface="Arial"/>
                <a:ea typeface="Arial"/>
                <a:cs typeface="Arial"/>
                <a:sym typeface="Arial"/>
              </a:rPr>
              <a:t>Data Split</a:t>
            </a:r>
            <a:r>
              <a:rPr lang="en-US" sz="1800">
                <a:latin typeface="Arial"/>
                <a:ea typeface="Arial"/>
                <a:cs typeface="Arial"/>
                <a:sym typeface="Arial"/>
              </a:rPr>
              <a:t>: Divided the data into training and testing sets (80%/20% split).</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1800">
                <a:latin typeface="Arial"/>
                <a:ea typeface="Arial"/>
                <a:cs typeface="Arial"/>
                <a:sym typeface="Arial"/>
              </a:rPr>
              <a:t>Feature Selection</a:t>
            </a:r>
            <a:r>
              <a:rPr lang="en-US" sz="1800">
                <a:latin typeface="Arial"/>
                <a:ea typeface="Arial"/>
                <a:cs typeface="Arial"/>
                <a:sym typeface="Arial"/>
              </a:rPr>
              <a:t>: Chose relevant features like payload mass, rocket type, launch site, and orbit type.</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1800">
                <a:latin typeface="Arial"/>
                <a:ea typeface="Arial"/>
                <a:cs typeface="Arial"/>
                <a:sym typeface="Arial"/>
              </a:rPr>
              <a:t>Algorithms</a:t>
            </a:r>
            <a:r>
              <a:rPr lang="en-US" sz="1800">
                <a:latin typeface="Arial"/>
                <a:ea typeface="Arial"/>
                <a:cs typeface="Arial"/>
                <a:sym typeface="Arial"/>
              </a:rPr>
              <a:t>: Implemented classification algorithms such as Logistic Regression, Random Forest, and Decision Trees.</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1800">
                <a:latin typeface="Arial"/>
                <a:ea typeface="Arial"/>
                <a:cs typeface="Arial"/>
                <a:sym typeface="Arial"/>
              </a:rPr>
              <a:t>Model Training</a:t>
            </a:r>
            <a:r>
              <a:rPr lang="en-US" sz="1800">
                <a:latin typeface="Arial"/>
                <a:ea typeface="Arial"/>
                <a:cs typeface="Arial"/>
                <a:sym typeface="Arial"/>
              </a:rPr>
              <a:t>: Used cross-validation for model tuning and optimization.</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1800">
                <a:latin typeface="Arial"/>
                <a:ea typeface="Arial"/>
                <a:cs typeface="Arial"/>
                <a:sym typeface="Arial"/>
              </a:rPr>
              <a:t>Model Evaluation</a:t>
            </a:r>
            <a:r>
              <a:rPr lang="en-US" sz="1800">
                <a:latin typeface="Arial"/>
                <a:ea typeface="Arial"/>
                <a:cs typeface="Arial"/>
                <a:sym typeface="Arial"/>
              </a:rPr>
              <a:t>: Evaluated models using accuracy, precision, recall, and F1-score.</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1800">
                <a:latin typeface="Arial"/>
                <a:ea typeface="Arial"/>
                <a:cs typeface="Arial"/>
                <a:sym typeface="Arial"/>
              </a:rPr>
              <a:t>Hyperparameter Tuning</a:t>
            </a:r>
            <a:r>
              <a:rPr lang="en-US" sz="1800">
                <a:latin typeface="Arial"/>
                <a:ea typeface="Arial"/>
                <a:cs typeface="Arial"/>
                <a:sym typeface="Arial"/>
              </a:rPr>
              <a:t>: Used grid search to find optimal hyperparameters for each algorithm.</a:t>
            </a:r>
            <a:endParaRPr sz="1800">
              <a:latin typeface="Arial"/>
              <a:ea typeface="Arial"/>
              <a:cs typeface="Arial"/>
              <a:sym typeface="Arial"/>
            </a:endParaRPr>
          </a:p>
          <a:p>
            <a:pPr indent="0" lvl="0" marL="0" rtl="0" algn="l">
              <a:spcBef>
                <a:spcPts val="360"/>
              </a:spcBef>
              <a:spcAft>
                <a:spcPts val="0"/>
              </a:spcAft>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EDA with Visualization Results</a:t>
            </a:r>
            <a:endParaRPr/>
          </a:p>
        </p:txBody>
      </p:sp>
      <p:sp>
        <p:nvSpPr>
          <p:cNvPr id="140" name="Google Shape;140;p22"/>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23850" lvl="0" marL="457200" rtl="0" algn="l">
              <a:lnSpc>
                <a:spcPct val="115000"/>
              </a:lnSpc>
              <a:spcBef>
                <a:spcPts val="1800"/>
              </a:spcBef>
              <a:spcAft>
                <a:spcPts val="0"/>
              </a:spcAft>
              <a:buSzPts val="1500"/>
              <a:buChar char="●"/>
            </a:pPr>
            <a:r>
              <a:rPr b="1" lang="en-US" sz="1500">
                <a:latin typeface="Arial"/>
                <a:ea typeface="Arial"/>
                <a:cs typeface="Arial"/>
                <a:sym typeface="Arial"/>
              </a:rPr>
              <a:t>Launch Date Distribution</a:t>
            </a:r>
            <a:r>
              <a:rPr lang="en-US" sz="1500">
                <a:latin typeface="Arial"/>
                <a:ea typeface="Arial"/>
                <a:cs typeface="Arial"/>
                <a:sym typeface="Arial"/>
              </a:rPr>
              <a:t>: Visualized the number of launches over time (year-wise distribution of launches).</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b="1" lang="en-US" sz="1500">
                <a:latin typeface="Arial"/>
                <a:ea typeface="Arial"/>
                <a:cs typeface="Arial"/>
                <a:sym typeface="Arial"/>
              </a:rPr>
              <a:t>Payload Mass Impact</a:t>
            </a:r>
            <a:r>
              <a:rPr lang="en-US" sz="1500">
                <a:latin typeface="Arial"/>
                <a:ea typeface="Arial"/>
                <a:cs typeface="Arial"/>
                <a:sym typeface="Arial"/>
              </a:rPr>
              <a:t>: Created scatter plots to analyze the relationship between payload mass and landing success.</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b="1" lang="en-US" sz="1500">
                <a:latin typeface="Arial"/>
                <a:ea typeface="Arial"/>
                <a:cs typeface="Arial"/>
                <a:sym typeface="Arial"/>
              </a:rPr>
              <a:t>Landing Success vs. Rocket Type</a:t>
            </a:r>
            <a:r>
              <a:rPr lang="en-US" sz="1500">
                <a:latin typeface="Arial"/>
                <a:ea typeface="Arial"/>
                <a:cs typeface="Arial"/>
                <a:sym typeface="Arial"/>
              </a:rPr>
              <a:t>: Used bar plots to compare landing success rates by rocket type (e.g., Falcon 9 vs. Falcon Heavy).</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b="1" lang="en-US" sz="1500">
                <a:latin typeface="Arial"/>
                <a:ea typeface="Arial"/>
                <a:cs typeface="Arial"/>
                <a:sym typeface="Arial"/>
              </a:rPr>
              <a:t>Launch Site Analysis</a:t>
            </a:r>
            <a:r>
              <a:rPr lang="en-US" sz="1500">
                <a:latin typeface="Arial"/>
                <a:ea typeface="Arial"/>
                <a:cs typeface="Arial"/>
                <a:sym typeface="Arial"/>
              </a:rPr>
              <a:t>: Mapped landing success across different launch sites.</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b="1" lang="en-US" sz="1500">
                <a:latin typeface="Arial"/>
                <a:ea typeface="Arial"/>
                <a:cs typeface="Arial"/>
                <a:sym typeface="Arial"/>
              </a:rPr>
              <a:t>Correlation Heatmap</a:t>
            </a:r>
            <a:r>
              <a:rPr lang="en-US" sz="1500">
                <a:latin typeface="Arial"/>
                <a:ea typeface="Arial"/>
                <a:cs typeface="Arial"/>
                <a:sym typeface="Arial"/>
              </a:rPr>
              <a:t>: Displayed correlations between variables (e.g., payload mass, rocket type, launch site) to identify patterns.</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b="1" lang="en-US" sz="1500">
                <a:latin typeface="Arial"/>
                <a:ea typeface="Arial"/>
                <a:cs typeface="Arial"/>
                <a:sym typeface="Arial"/>
              </a:rPr>
              <a:t>Trends</a:t>
            </a:r>
            <a:r>
              <a:rPr lang="en-US" sz="1500">
                <a:latin typeface="Arial"/>
                <a:ea typeface="Arial"/>
                <a:cs typeface="Arial"/>
                <a:sym typeface="Arial"/>
              </a:rPr>
              <a:t>: Found significant trends such as higher payload mass associated with a lower chance of successful landings.</a:t>
            </a:r>
            <a:br>
              <a:rPr lang="en-US" sz="1500">
                <a:latin typeface="Arial"/>
                <a:ea typeface="Arial"/>
                <a:cs typeface="Arial"/>
                <a:sym typeface="Arial"/>
              </a:rPr>
            </a:br>
            <a:endParaRPr sz="1500">
              <a:latin typeface="Arial"/>
              <a:ea typeface="Arial"/>
              <a:cs typeface="Arial"/>
              <a:sym typeface="Arial"/>
            </a:endParaRPr>
          </a:p>
          <a:p>
            <a:pPr indent="0" lvl="0" marL="0" rtl="0" algn="l">
              <a:spcBef>
                <a:spcPts val="1800"/>
              </a:spcBef>
              <a:spcAft>
                <a:spcPts val="0"/>
              </a:spcAft>
              <a:buNone/>
            </a:pPr>
            <a:r>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3300">
                <a:latin typeface="Arial"/>
                <a:ea typeface="Arial"/>
                <a:cs typeface="Arial"/>
                <a:sym typeface="Arial"/>
              </a:rPr>
              <a:t>Model Selection</a:t>
            </a:r>
            <a:endParaRPr sz="6400"/>
          </a:p>
        </p:txBody>
      </p:sp>
      <p:sp>
        <p:nvSpPr>
          <p:cNvPr id="146" name="Google Shape;146;p23"/>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t/>
            </a:r>
            <a:endParaRPr b="1" sz="13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2100">
                <a:latin typeface="Arial"/>
                <a:ea typeface="Arial"/>
                <a:cs typeface="Arial"/>
                <a:sym typeface="Arial"/>
              </a:rPr>
              <a:t>Algorithms Evaluated:</a:t>
            </a:r>
            <a:endParaRPr b="1" sz="2100">
              <a:latin typeface="Arial"/>
              <a:ea typeface="Arial"/>
              <a:cs typeface="Arial"/>
              <a:sym typeface="Arial"/>
            </a:endParaRPr>
          </a:p>
          <a:p>
            <a:pPr indent="-355600" lvl="0" marL="457200" rtl="0" algn="l">
              <a:lnSpc>
                <a:spcPct val="115000"/>
              </a:lnSpc>
              <a:spcBef>
                <a:spcPts val="1800"/>
              </a:spcBef>
              <a:spcAft>
                <a:spcPts val="0"/>
              </a:spcAft>
              <a:buSzPts val="2000"/>
              <a:buChar char="●"/>
            </a:pPr>
            <a:r>
              <a:rPr lang="en-US" sz="2000">
                <a:latin typeface="Arial"/>
                <a:ea typeface="Arial"/>
                <a:cs typeface="Arial"/>
                <a:sym typeface="Arial"/>
              </a:rPr>
              <a:t>Logistic Regression (baseline model)</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Decision Trees</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Random Forests</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Support Vector Machines (SVM)</a:t>
            </a:r>
            <a:endParaRPr sz="2000">
              <a:latin typeface="Arial"/>
              <a:ea typeface="Arial"/>
              <a:cs typeface="Arial"/>
              <a:sym typeface="Arial"/>
            </a:endParaRPr>
          </a:p>
          <a:p>
            <a:pPr indent="0" lvl="0" marL="0" rtl="0" algn="l">
              <a:spcBef>
                <a:spcPts val="1800"/>
              </a:spcBef>
              <a:spcAft>
                <a:spcPts val="0"/>
              </a:spcAft>
              <a:buNone/>
            </a:pPr>
            <a:r>
              <a:t/>
            </a:r>
            <a:endParaRPr sz="4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3000">
                <a:latin typeface="Arial"/>
                <a:ea typeface="Arial"/>
                <a:cs typeface="Arial"/>
                <a:sym typeface="Arial"/>
              </a:rPr>
              <a:t>Model Training and Evaluation</a:t>
            </a:r>
            <a:endParaRPr sz="6100"/>
          </a:p>
        </p:txBody>
      </p:sp>
      <p:sp>
        <p:nvSpPr>
          <p:cNvPr id="152" name="Google Shape;152;p2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25000" lnSpcReduction="20000"/>
          </a:bodyPr>
          <a:lstStyle/>
          <a:p>
            <a:pPr indent="0" lvl="0" marL="0" rtl="0" algn="l">
              <a:lnSpc>
                <a:spcPct val="115000"/>
              </a:lnSpc>
              <a:spcBef>
                <a:spcPts val="1400"/>
              </a:spcBef>
              <a:spcAft>
                <a:spcPts val="0"/>
              </a:spcAft>
              <a:buClr>
                <a:schemeClr val="dk1"/>
              </a:buClr>
              <a:buSzPct val="84615"/>
              <a:buFont typeface="Arial"/>
              <a:buNone/>
            </a:pPr>
            <a:r>
              <a:t/>
            </a:r>
            <a:endParaRPr b="1" sz="1300">
              <a:latin typeface="Arial"/>
              <a:ea typeface="Arial"/>
              <a:cs typeface="Arial"/>
              <a:sym typeface="Arial"/>
            </a:endParaRPr>
          </a:p>
          <a:p>
            <a:pPr indent="0" lvl="0" marL="0" rtl="0" algn="l">
              <a:lnSpc>
                <a:spcPct val="115000"/>
              </a:lnSpc>
              <a:spcBef>
                <a:spcPts val="1800"/>
              </a:spcBef>
              <a:spcAft>
                <a:spcPts val="0"/>
              </a:spcAft>
              <a:buClr>
                <a:schemeClr val="dk1"/>
              </a:buClr>
              <a:buSzPts val="275"/>
              <a:buFont typeface="Arial"/>
              <a:buNone/>
            </a:pPr>
            <a:r>
              <a:rPr b="1" lang="en-US" sz="6504">
                <a:latin typeface="Arial"/>
                <a:ea typeface="Arial"/>
                <a:cs typeface="Arial"/>
                <a:sym typeface="Arial"/>
              </a:rPr>
              <a:t>Training Approach:</a:t>
            </a:r>
            <a:endParaRPr b="1" sz="6504">
              <a:latin typeface="Arial"/>
              <a:ea typeface="Arial"/>
              <a:cs typeface="Arial"/>
              <a:sym typeface="Arial"/>
            </a:endParaRPr>
          </a:p>
          <a:p>
            <a:pPr indent="-331853" lvl="0" marL="457200" rtl="0" algn="l">
              <a:lnSpc>
                <a:spcPct val="115000"/>
              </a:lnSpc>
              <a:spcBef>
                <a:spcPts val="1800"/>
              </a:spcBef>
              <a:spcAft>
                <a:spcPts val="0"/>
              </a:spcAft>
              <a:buSzPct val="100000"/>
              <a:buChar char="●"/>
            </a:pPr>
            <a:r>
              <a:rPr lang="en-US" sz="6504">
                <a:latin typeface="Arial"/>
                <a:ea typeface="Arial"/>
                <a:cs typeface="Arial"/>
                <a:sym typeface="Arial"/>
              </a:rPr>
              <a:t>Data Split: 80% Training / 20% Testing</a:t>
            </a:r>
            <a:br>
              <a:rPr lang="en-US" sz="6504">
                <a:latin typeface="Arial"/>
                <a:ea typeface="Arial"/>
                <a:cs typeface="Arial"/>
                <a:sym typeface="Arial"/>
              </a:rPr>
            </a:br>
            <a:endParaRPr sz="6504">
              <a:latin typeface="Arial"/>
              <a:ea typeface="Arial"/>
              <a:cs typeface="Arial"/>
              <a:sym typeface="Arial"/>
            </a:endParaRPr>
          </a:p>
          <a:p>
            <a:pPr indent="-331853" lvl="0" marL="457200" rtl="0" algn="l">
              <a:lnSpc>
                <a:spcPct val="115000"/>
              </a:lnSpc>
              <a:spcBef>
                <a:spcPts val="0"/>
              </a:spcBef>
              <a:spcAft>
                <a:spcPts val="0"/>
              </a:spcAft>
              <a:buSzPct val="100000"/>
              <a:buChar char="●"/>
            </a:pPr>
            <a:r>
              <a:rPr lang="en-US" sz="6504">
                <a:latin typeface="Arial"/>
                <a:ea typeface="Arial"/>
                <a:cs typeface="Arial"/>
                <a:sym typeface="Arial"/>
              </a:rPr>
              <a:t>Cross-validation (e.g., k-fold CV)</a:t>
            </a:r>
            <a:br>
              <a:rPr lang="en-US" sz="6504">
                <a:latin typeface="Arial"/>
                <a:ea typeface="Arial"/>
                <a:cs typeface="Arial"/>
                <a:sym typeface="Arial"/>
              </a:rPr>
            </a:br>
            <a:endParaRPr sz="6504">
              <a:latin typeface="Arial"/>
              <a:ea typeface="Arial"/>
              <a:cs typeface="Arial"/>
              <a:sym typeface="Arial"/>
            </a:endParaRPr>
          </a:p>
          <a:p>
            <a:pPr indent="0" lvl="0" marL="0" rtl="0" algn="l">
              <a:lnSpc>
                <a:spcPct val="115000"/>
              </a:lnSpc>
              <a:spcBef>
                <a:spcPts val="1800"/>
              </a:spcBef>
              <a:spcAft>
                <a:spcPts val="0"/>
              </a:spcAft>
              <a:buClr>
                <a:schemeClr val="dk1"/>
              </a:buClr>
              <a:buSzPts val="275"/>
              <a:buFont typeface="Arial"/>
              <a:buNone/>
            </a:pPr>
            <a:r>
              <a:rPr b="1" lang="en-US" sz="6504">
                <a:latin typeface="Arial"/>
                <a:ea typeface="Arial"/>
                <a:cs typeface="Arial"/>
                <a:sym typeface="Arial"/>
              </a:rPr>
              <a:t>Evaluation Metrics:</a:t>
            </a:r>
            <a:endParaRPr b="1" sz="6504">
              <a:latin typeface="Arial"/>
              <a:ea typeface="Arial"/>
              <a:cs typeface="Arial"/>
              <a:sym typeface="Arial"/>
            </a:endParaRPr>
          </a:p>
          <a:p>
            <a:pPr indent="-331853" lvl="0" marL="457200" rtl="0" algn="l">
              <a:lnSpc>
                <a:spcPct val="115000"/>
              </a:lnSpc>
              <a:spcBef>
                <a:spcPts val="1800"/>
              </a:spcBef>
              <a:spcAft>
                <a:spcPts val="0"/>
              </a:spcAft>
              <a:buSzPct val="100000"/>
              <a:buChar char="●"/>
            </a:pPr>
            <a:r>
              <a:rPr lang="en-US" sz="6504">
                <a:latin typeface="Arial"/>
                <a:ea typeface="Arial"/>
                <a:cs typeface="Arial"/>
                <a:sym typeface="Arial"/>
              </a:rPr>
              <a:t>Accuracy</a:t>
            </a:r>
            <a:br>
              <a:rPr lang="en-US" sz="6504">
                <a:latin typeface="Arial"/>
                <a:ea typeface="Arial"/>
                <a:cs typeface="Arial"/>
                <a:sym typeface="Arial"/>
              </a:rPr>
            </a:br>
            <a:endParaRPr sz="6504">
              <a:latin typeface="Arial"/>
              <a:ea typeface="Arial"/>
              <a:cs typeface="Arial"/>
              <a:sym typeface="Arial"/>
            </a:endParaRPr>
          </a:p>
          <a:p>
            <a:pPr indent="-331853" lvl="0" marL="457200" rtl="0" algn="l">
              <a:lnSpc>
                <a:spcPct val="115000"/>
              </a:lnSpc>
              <a:spcBef>
                <a:spcPts val="0"/>
              </a:spcBef>
              <a:spcAft>
                <a:spcPts val="0"/>
              </a:spcAft>
              <a:buSzPct val="100000"/>
              <a:buChar char="●"/>
            </a:pPr>
            <a:r>
              <a:rPr lang="en-US" sz="6504">
                <a:latin typeface="Arial"/>
                <a:ea typeface="Arial"/>
                <a:cs typeface="Arial"/>
                <a:sym typeface="Arial"/>
              </a:rPr>
              <a:t>Precision, Recall, F1-Score</a:t>
            </a:r>
            <a:br>
              <a:rPr lang="en-US" sz="6504">
                <a:latin typeface="Arial"/>
                <a:ea typeface="Arial"/>
                <a:cs typeface="Arial"/>
                <a:sym typeface="Arial"/>
              </a:rPr>
            </a:br>
            <a:endParaRPr sz="6504">
              <a:latin typeface="Arial"/>
              <a:ea typeface="Arial"/>
              <a:cs typeface="Arial"/>
              <a:sym typeface="Arial"/>
            </a:endParaRPr>
          </a:p>
          <a:p>
            <a:pPr indent="-331853" lvl="0" marL="457200" rtl="0" algn="l">
              <a:lnSpc>
                <a:spcPct val="115000"/>
              </a:lnSpc>
              <a:spcBef>
                <a:spcPts val="0"/>
              </a:spcBef>
              <a:spcAft>
                <a:spcPts val="0"/>
              </a:spcAft>
              <a:buSzPct val="100000"/>
              <a:buChar char="●"/>
            </a:pPr>
            <a:r>
              <a:rPr lang="en-US" sz="6504">
                <a:latin typeface="Arial"/>
                <a:ea typeface="Arial"/>
                <a:cs typeface="Arial"/>
                <a:sym typeface="Arial"/>
              </a:rPr>
              <a:t>Confusion Matrix</a:t>
            </a:r>
            <a:br>
              <a:rPr lang="en-US" sz="6504">
                <a:latin typeface="Arial"/>
                <a:ea typeface="Arial"/>
                <a:cs typeface="Arial"/>
                <a:sym typeface="Arial"/>
              </a:rPr>
            </a:br>
            <a:endParaRPr sz="6504">
              <a:latin typeface="Arial"/>
              <a:ea typeface="Arial"/>
              <a:cs typeface="Arial"/>
              <a:sym typeface="Arial"/>
            </a:endParaRPr>
          </a:p>
          <a:p>
            <a:pPr indent="-331853" lvl="0" marL="457200" rtl="0" algn="l">
              <a:lnSpc>
                <a:spcPct val="115000"/>
              </a:lnSpc>
              <a:spcBef>
                <a:spcPts val="0"/>
              </a:spcBef>
              <a:spcAft>
                <a:spcPts val="0"/>
              </a:spcAft>
              <a:buSzPct val="100000"/>
              <a:buChar char="●"/>
            </a:pPr>
            <a:r>
              <a:rPr lang="en-US" sz="6504">
                <a:latin typeface="Arial"/>
                <a:ea typeface="Arial"/>
                <a:cs typeface="Arial"/>
                <a:sym typeface="Arial"/>
              </a:rPr>
              <a:t>ROC-AUC Curve</a:t>
            </a:r>
            <a:endParaRPr sz="6504">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Hyperparameter Tuning</a:t>
            </a:r>
            <a:endParaRPr/>
          </a:p>
        </p:txBody>
      </p:sp>
      <p:sp>
        <p:nvSpPr>
          <p:cNvPr id="158" name="Google Shape;158;p25"/>
          <p:cNvSpPr txBox="1"/>
          <p:nvPr>
            <p:ph idx="1" type="body"/>
          </p:nvPr>
        </p:nvSpPr>
        <p:spPr>
          <a:xfrm>
            <a:off x="457200" y="1600200"/>
            <a:ext cx="8229600" cy="45261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Methods Used:</a:t>
            </a:r>
            <a:endParaRPr b="1" sz="1700">
              <a:latin typeface="Arial"/>
              <a:ea typeface="Arial"/>
              <a:cs typeface="Arial"/>
              <a:sym typeface="Arial"/>
            </a:endParaRPr>
          </a:p>
          <a:p>
            <a:pPr indent="-336550" lvl="0" marL="457200" rtl="0" algn="l">
              <a:lnSpc>
                <a:spcPct val="115000"/>
              </a:lnSpc>
              <a:spcBef>
                <a:spcPts val="1800"/>
              </a:spcBef>
              <a:spcAft>
                <a:spcPts val="0"/>
              </a:spcAft>
              <a:buSzPts val="1700"/>
              <a:buChar char="●"/>
            </a:pPr>
            <a:r>
              <a:rPr lang="en-US" sz="1700">
                <a:latin typeface="Arial"/>
                <a:ea typeface="Arial"/>
                <a:cs typeface="Arial"/>
                <a:sym typeface="Arial"/>
              </a:rPr>
              <a:t>Grid Search CV</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Randomized Search CV</a:t>
            </a:r>
            <a:br>
              <a:rPr lang="en-US" sz="1700">
                <a:latin typeface="Arial"/>
                <a:ea typeface="Arial"/>
                <a:cs typeface="Arial"/>
                <a:sym typeface="Arial"/>
              </a:rPr>
            </a:br>
            <a:endParaRPr sz="17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Parameters Tuned:</a:t>
            </a:r>
            <a:endParaRPr b="1" sz="1700">
              <a:latin typeface="Arial"/>
              <a:ea typeface="Arial"/>
              <a:cs typeface="Arial"/>
              <a:sym typeface="Arial"/>
            </a:endParaRPr>
          </a:p>
          <a:p>
            <a:pPr indent="-336550" lvl="0" marL="457200" rtl="0" algn="l">
              <a:lnSpc>
                <a:spcPct val="115000"/>
              </a:lnSpc>
              <a:spcBef>
                <a:spcPts val="1800"/>
              </a:spcBef>
              <a:spcAft>
                <a:spcPts val="0"/>
              </a:spcAft>
              <a:buSzPts val="1700"/>
              <a:buChar char="●"/>
            </a:pPr>
            <a:r>
              <a:rPr lang="en-US" sz="1700">
                <a:latin typeface="Arial"/>
                <a:ea typeface="Arial"/>
                <a:cs typeface="Arial"/>
                <a:sym typeface="Arial"/>
              </a:rPr>
              <a:t>Decision Tree depth</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Number of trees in Random Forest</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Regularization strength for Logistic Regression</a:t>
            </a:r>
            <a:endParaRPr sz="17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Model Performance Comparison</a:t>
            </a:r>
            <a:endParaRPr/>
          </a:p>
        </p:txBody>
      </p:sp>
      <p:sp>
        <p:nvSpPr>
          <p:cNvPr id="164" name="Google Shape;164;p26"/>
          <p:cNvSpPr txBox="1"/>
          <p:nvPr>
            <p:ph idx="1" type="body"/>
          </p:nvPr>
        </p:nvSpPr>
        <p:spPr>
          <a:xfrm>
            <a:off x="289325" y="1600200"/>
            <a:ext cx="8633100" cy="4526100"/>
          </a:xfrm>
          <a:prstGeom prst="rect">
            <a:avLst/>
          </a:prstGeom>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None/>
            </a:pPr>
            <a:r>
              <a:rPr b="1" lang="en-US" sz="1500">
                <a:solidFill>
                  <a:srgbClr val="000000"/>
                </a:solidFill>
                <a:latin typeface="Arial"/>
                <a:ea typeface="Arial"/>
                <a:cs typeface="Arial"/>
                <a:sym typeface="Arial"/>
              </a:rPr>
              <a:t>Model                               Accuracy                              F1-Score                            ROC-AUC</a:t>
            </a:r>
            <a:endParaRPr b="1" sz="15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b="1" sz="1500">
              <a:solidFill>
                <a:srgbClr val="000000"/>
              </a:solidFill>
              <a:latin typeface="Arial"/>
              <a:ea typeface="Arial"/>
              <a:cs typeface="Arial"/>
              <a:sym typeface="Arial"/>
            </a:endParaRPr>
          </a:p>
          <a:p>
            <a:pPr indent="0" lvl="0" marL="0" rtl="0" algn="l">
              <a:spcBef>
                <a:spcPts val="0"/>
              </a:spcBef>
              <a:spcAft>
                <a:spcPts val="0"/>
              </a:spcAft>
              <a:buNone/>
            </a:pPr>
            <a:r>
              <a:rPr lang="en-US" sz="1400">
                <a:solidFill>
                  <a:srgbClr val="000000"/>
                </a:solidFill>
                <a:latin typeface="Arial"/>
                <a:ea typeface="Arial"/>
                <a:cs typeface="Arial"/>
                <a:sym typeface="Arial"/>
              </a:rPr>
              <a:t>Logistic Regression                 88%                                           0.87                                       0.89</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rPr lang="en-US" sz="1400">
                <a:solidFill>
                  <a:srgbClr val="000000"/>
                </a:solidFill>
                <a:latin typeface="Arial"/>
                <a:ea typeface="Arial"/>
                <a:cs typeface="Arial"/>
                <a:sym typeface="Arial"/>
              </a:rPr>
              <a:t>Decision Tree                           85%                                            0.83                                     0.86</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rPr lang="en-US" sz="1400">
                <a:solidFill>
                  <a:srgbClr val="000000"/>
                </a:solidFill>
                <a:latin typeface="Arial"/>
                <a:ea typeface="Arial"/>
                <a:cs typeface="Arial"/>
                <a:sym typeface="Arial"/>
              </a:rPr>
              <a:t>Random Forest                         92%                                            0.91                                     0.93</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rPr lang="en-US" sz="1400">
                <a:solidFill>
                  <a:srgbClr val="000000"/>
                </a:solidFill>
                <a:latin typeface="Arial"/>
                <a:ea typeface="Arial"/>
                <a:cs typeface="Arial"/>
                <a:sym typeface="Arial"/>
              </a:rPr>
              <a:t>SVM                                         89%                                             0.88                                       0.90</a:t>
            </a:r>
            <a:endParaRPr sz="1400">
              <a:solidFill>
                <a:srgbClr val="000000"/>
              </a:solidFill>
              <a:latin typeface="Arial"/>
              <a:ea typeface="Arial"/>
              <a:cs typeface="Arial"/>
              <a:sym typeface="Arial"/>
            </a:endParaRPr>
          </a:p>
          <a:p>
            <a:pPr indent="0" lvl="0" marL="0" rtl="0" algn="l">
              <a:spcBef>
                <a:spcPts val="36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Final Model Selection</a:t>
            </a:r>
            <a:endParaRPr/>
          </a:p>
        </p:txBody>
      </p:sp>
      <p:sp>
        <p:nvSpPr>
          <p:cNvPr id="170" name="Google Shape;170;p2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800"/>
              </a:spcBef>
              <a:spcAft>
                <a:spcPts val="0"/>
              </a:spcAft>
              <a:buClr>
                <a:schemeClr val="dk1"/>
              </a:buClr>
              <a:buSzPts val="1100"/>
              <a:buFont typeface="Arial"/>
              <a:buNone/>
            </a:pPr>
            <a:r>
              <a:rPr b="1" lang="en-US" sz="2100">
                <a:latin typeface="Arial"/>
                <a:ea typeface="Arial"/>
                <a:cs typeface="Arial"/>
                <a:sym typeface="Arial"/>
              </a:rPr>
              <a:t>Best Performing Model:</a:t>
            </a:r>
            <a:endParaRPr b="1" sz="2100">
              <a:latin typeface="Arial"/>
              <a:ea typeface="Arial"/>
              <a:cs typeface="Arial"/>
              <a:sym typeface="Arial"/>
            </a:endParaRPr>
          </a:p>
          <a:p>
            <a:pPr indent="-361950" lvl="0" marL="457200" rtl="0" algn="l">
              <a:lnSpc>
                <a:spcPct val="115000"/>
              </a:lnSpc>
              <a:spcBef>
                <a:spcPts val="1800"/>
              </a:spcBef>
              <a:spcAft>
                <a:spcPts val="0"/>
              </a:spcAft>
              <a:buSzPts val="2100"/>
              <a:buChar char="●"/>
            </a:pPr>
            <a:r>
              <a:rPr lang="en-US" sz="2100">
                <a:latin typeface="Arial"/>
                <a:ea typeface="Arial"/>
                <a:cs typeface="Arial"/>
                <a:sym typeface="Arial"/>
              </a:rPr>
              <a:t>Random Forest Classifier</a:t>
            </a:r>
            <a:br>
              <a:rPr lang="en-US" sz="2100">
                <a:latin typeface="Arial"/>
                <a:ea typeface="Arial"/>
                <a:cs typeface="Arial"/>
                <a:sym typeface="Arial"/>
              </a:rPr>
            </a:br>
            <a:endParaRPr sz="21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2100">
                <a:latin typeface="Arial"/>
                <a:ea typeface="Arial"/>
                <a:cs typeface="Arial"/>
                <a:sym typeface="Arial"/>
              </a:rPr>
              <a:t>Justification:</a:t>
            </a:r>
            <a:endParaRPr b="1" sz="2100">
              <a:latin typeface="Arial"/>
              <a:ea typeface="Arial"/>
              <a:cs typeface="Arial"/>
              <a:sym typeface="Arial"/>
            </a:endParaRPr>
          </a:p>
          <a:p>
            <a:pPr indent="-361950" lvl="0" marL="457200" rtl="0" algn="l">
              <a:lnSpc>
                <a:spcPct val="115000"/>
              </a:lnSpc>
              <a:spcBef>
                <a:spcPts val="1800"/>
              </a:spcBef>
              <a:spcAft>
                <a:spcPts val="0"/>
              </a:spcAft>
              <a:buSzPts val="2100"/>
              <a:buChar char="●"/>
            </a:pPr>
            <a:r>
              <a:rPr lang="en-US" sz="2100">
                <a:latin typeface="Arial"/>
                <a:ea typeface="Arial"/>
                <a:cs typeface="Arial"/>
                <a:sym typeface="Arial"/>
              </a:rPr>
              <a:t>Highest accuracy and F1-score</a:t>
            </a:r>
            <a:br>
              <a:rPr lang="en-US" sz="2100">
                <a:latin typeface="Arial"/>
                <a:ea typeface="Arial"/>
                <a:cs typeface="Arial"/>
                <a:sym typeface="Arial"/>
              </a:rPr>
            </a:b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Robust against overfitting</a:t>
            </a:r>
            <a:br>
              <a:rPr lang="en-US" sz="2100">
                <a:latin typeface="Arial"/>
                <a:ea typeface="Arial"/>
                <a:cs typeface="Arial"/>
                <a:sym typeface="Arial"/>
              </a:rPr>
            </a:b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Interpretable feature importance</a:t>
            </a:r>
            <a:endParaRPr sz="21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Exploratory Data Analysis (EDA) using SQL</a:t>
            </a:r>
            <a:endParaRPr/>
          </a:p>
        </p:txBody>
      </p:sp>
      <p:sp>
        <p:nvSpPr>
          <p:cNvPr id="176" name="Google Shape;176;p28"/>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None/>
            </a:pPr>
            <a:r>
              <a:rPr b="1" lang="en-US" sz="1800">
                <a:latin typeface="Arial"/>
                <a:ea typeface="Arial"/>
                <a:cs typeface="Arial"/>
                <a:sym typeface="Arial"/>
              </a:rPr>
              <a:t>EDA using SQL Objectives</a:t>
            </a:r>
            <a:endParaRPr b="1" sz="18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800">
                <a:latin typeface="Arial"/>
                <a:ea typeface="Arial"/>
                <a:cs typeface="Arial"/>
                <a:sym typeface="Arial"/>
              </a:rPr>
              <a:t>Key Goals:</a:t>
            </a:r>
            <a:endParaRPr b="1" sz="1800">
              <a:latin typeface="Arial"/>
              <a:ea typeface="Arial"/>
              <a:cs typeface="Arial"/>
              <a:sym typeface="Arial"/>
            </a:endParaRPr>
          </a:p>
          <a:p>
            <a:pPr indent="-342900" lvl="0" marL="457200" rtl="0" algn="l">
              <a:lnSpc>
                <a:spcPct val="115000"/>
              </a:lnSpc>
              <a:spcBef>
                <a:spcPts val="1800"/>
              </a:spcBef>
              <a:spcAft>
                <a:spcPts val="0"/>
              </a:spcAft>
              <a:buSzPts val="1800"/>
              <a:buChar char="●"/>
            </a:pPr>
            <a:r>
              <a:rPr lang="en-US" sz="1800">
                <a:latin typeface="Arial"/>
                <a:ea typeface="Arial"/>
                <a:cs typeface="Arial"/>
                <a:sym typeface="Arial"/>
              </a:rPr>
              <a:t>Understand data distribution and patterns</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Identify factors influencing launch success</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Summarize insights using SQL queries</a:t>
            </a:r>
            <a:endParaRPr sz="18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SQL Query - Overall Launch Outcomes</a:t>
            </a:r>
            <a:endParaRPr/>
          </a:p>
        </p:txBody>
      </p:sp>
      <p:sp>
        <p:nvSpPr>
          <p:cNvPr id="182" name="Google Shape;182;p2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77500" lnSpcReduction="20000"/>
          </a:bodyPr>
          <a:lstStyle/>
          <a:p>
            <a:pPr indent="0" lvl="0" marL="0" rtl="0" algn="l">
              <a:spcBef>
                <a:spcPts val="360"/>
              </a:spcBef>
              <a:spcAft>
                <a:spcPts val="0"/>
              </a:spcAft>
              <a:buClr>
                <a:schemeClr val="dk1"/>
              </a:buClr>
              <a:buSzPct val="42307"/>
              <a:buFont typeface="Arial"/>
              <a:buNone/>
            </a:pPr>
            <a:r>
              <a:rPr lang="en-US" sz="2600">
                <a:solidFill>
                  <a:srgbClr val="4A86E8"/>
                </a:solidFill>
              </a:rPr>
              <a:t>SELECT </a:t>
            </a:r>
            <a:r>
              <a:rPr lang="en-US" sz="2600"/>
              <a:t>outcome, </a:t>
            </a:r>
            <a:r>
              <a:rPr lang="en-US" sz="2600">
                <a:solidFill>
                  <a:srgbClr val="4A86E8"/>
                </a:solidFill>
              </a:rPr>
              <a:t>COUNT</a:t>
            </a:r>
            <a:r>
              <a:rPr lang="en-US" sz="2600"/>
              <a:t>(*) </a:t>
            </a:r>
            <a:r>
              <a:rPr lang="en-US" sz="2600">
                <a:solidFill>
                  <a:srgbClr val="4A86E8"/>
                </a:solidFill>
              </a:rPr>
              <a:t>AS </a:t>
            </a:r>
            <a:r>
              <a:rPr lang="en-US" sz="2600"/>
              <a:t>total_launches</a:t>
            </a:r>
            <a:endParaRPr sz="2600"/>
          </a:p>
          <a:p>
            <a:pPr indent="0" lvl="0" marL="0" rtl="0" algn="l">
              <a:spcBef>
                <a:spcPts val="360"/>
              </a:spcBef>
              <a:spcAft>
                <a:spcPts val="0"/>
              </a:spcAft>
              <a:buClr>
                <a:schemeClr val="dk1"/>
              </a:buClr>
              <a:buSzPct val="42307"/>
              <a:buFont typeface="Arial"/>
              <a:buNone/>
            </a:pPr>
            <a:r>
              <a:rPr lang="en-US" sz="2600">
                <a:solidFill>
                  <a:srgbClr val="4A86E8"/>
                </a:solidFill>
              </a:rPr>
              <a:t>FROM</a:t>
            </a:r>
            <a:r>
              <a:rPr lang="en-US" sz="2600"/>
              <a:t> spacex_launch_data</a:t>
            </a:r>
            <a:endParaRPr sz="2600"/>
          </a:p>
          <a:p>
            <a:pPr indent="0" lvl="0" marL="0" rtl="0" algn="l">
              <a:spcBef>
                <a:spcPts val="360"/>
              </a:spcBef>
              <a:spcAft>
                <a:spcPts val="0"/>
              </a:spcAft>
              <a:buClr>
                <a:schemeClr val="dk1"/>
              </a:buClr>
              <a:buSzPct val="42307"/>
              <a:buFont typeface="Arial"/>
              <a:buNone/>
            </a:pPr>
            <a:r>
              <a:rPr lang="en-US" sz="2600">
                <a:solidFill>
                  <a:srgbClr val="4A86E8"/>
                </a:solidFill>
              </a:rPr>
              <a:t>GROUP</a:t>
            </a:r>
            <a:r>
              <a:rPr lang="en-US" sz="2600">
                <a:solidFill>
                  <a:srgbClr val="4A86E8"/>
                </a:solidFill>
              </a:rPr>
              <a:t> BY</a:t>
            </a:r>
            <a:r>
              <a:rPr lang="en-US" sz="2600"/>
              <a:t> outcome;</a:t>
            </a:r>
            <a:endParaRPr sz="2600"/>
          </a:p>
          <a:p>
            <a:pPr indent="0" lvl="0" marL="0" rtl="0" algn="l">
              <a:lnSpc>
                <a:spcPct val="115000"/>
              </a:lnSpc>
              <a:spcBef>
                <a:spcPts val="1800"/>
              </a:spcBef>
              <a:spcAft>
                <a:spcPts val="0"/>
              </a:spcAft>
              <a:buNone/>
            </a:pPr>
            <a:r>
              <a:rPr b="1" lang="en-US" sz="2500">
                <a:latin typeface="Arial"/>
                <a:ea typeface="Arial"/>
                <a:cs typeface="Arial"/>
                <a:sym typeface="Arial"/>
              </a:rPr>
              <a:t>Result Table:</a:t>
            </a:r>
            <a:endParaRPr b="1" sz="2500">
              <a:latin typeface="Arial"/>
              <a:ea typeface="Arial"/>
              <a:cs typeface="Arial"/>
              <a:sym typeface="Arial"/>
            </a:endParaRPr>
          </a:p>
          <a:p>
            <a:pPr indent="0" lvl="0" marL="0" rtl="0" algn="l">
              <a:lnSpc>
                <a:spcPct val="115000"/>
              </a:lnSpc>
              <a:spcBef>
                <a:spcPts val="1800"/>
              </a:spcBef>
              <a:spcAft>
                <a:spcPts val="0"/>
              </a:spcAft>
              <a:buNone/>
            </a:pPr>
            <a:r>
              <a:rPr b="1" lang="en-US" sz="2216">
                <a:solidFill>
                  <a:srgbClr val="000000"/>
                </a:solidFill>
                <a:latin typeface="Arial"/>
                <a:ea typeface="Arial"/>
                <a:cs typeface="Arial"/>
                <a:sym typeface="Arial"/>
              </a:rPr>
              <a:t>Outcome                                                          Total Launches</a:t>
            </a:r>
            <a:endParaRPr b="1" sz="2216">
              <a:solidFill>
                <a:srgbClr val="000000"/>
              </a:solidFill>
              <a:latin typeface="Arial"/>
              <a:ea typeface="Arial"/>
              <a:cs typeface="Arial"/>
              <a:sym typeface="Arial"/>
            </a:endParaRPr>
          </a:p>
          <a:p>
            <a:pPr indent="0" lvl="0" marL="0" rtl="0" algn="l">
              <a:spcBef>
                <a:spcPts val="0"/>
              </a:spcBef>
              <a:spcAft>
                <a:spcPts val="0"/>
              </a:spcAft>
              <a:buNone/>
            </a:pPr>
            <a:r>
              <a:rPr lang="en-US" sz="2716">
                <a:solidFill>
                  <a:srgbClr val="000000"/>
                </a:solidFill>
                <a:latin typeface="Arial"/>
                <a:ea typeface="Arial"/>
                <a:cs typeface="Arial"/>
                <a:sym typeface="Arial"/>
              </a:rPr>
              <a:t>Success                                                   85</a:t>
            </a:r>
            <a:endParaRPr sz="2716">
              <a:solidFill>
                <a:srgbClr val="000000"/>
              </a:solidFill>
              <a:latin typeface="Arial"/>
              <a:ea typeface="Arial"/>
              <a:cs typeface="Arial"/>
              <a:sym typeface="Arial"/>
            </a:endParaRPr>
          </a:p>
          <a:p>
            <a:pPr indent="0" lvl="0" marL="0" rtl="0" algn="l">
              <a:spcBef>
                <a:spcPts val="0"/>
              </a:spcBef>
              <a:spcAft>
                <a:spcPts val="0"/>
              </a:spcAft>
              <a:buNone/>
            </a:pPr>
            <a:r>
              <a:rPr lang="en-US" sz="2716">
                <a:solidFill>
                  <a:srgbClr val="000000"/>
                </a:solidFill>
                <a:latin typeface="Arial"/>
                <a:ea typeface="Arial"/>
                <a:cs typeface="Arial"/>
                <a:sym typeface="Arial"/>
              </a:rPr>
              <a:t>Failure                                                      15</a:t>
            </a:r>
            <a:endParaRPr sz="2716">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100">
              <a:latin typeface="Arial"/>
              <a:ea typeface="Arial"/>
              <a:cs typeface="Arial"/>
              <a:sym typeface="Arial"/>
            </a:endParaRPr>
          </a:p>
          <a:p>
            <a:pPr indent="0" lvl="0" marL="0" rtl="0" algn="l">
              <a:lnSpc>
                <a:spcPct val="115000"/>
              </a:lnSpc>
              <a:spcBef>
                <a:spcPts val="1800"/>
              </a:spcBef>
              <a:spcAft>
                <a:spcPts val="0"/>
              </a:spcAft>
              <a:buNone/>
            </a:pPr>
            <a:r>
              <a:rPr b="1" lang="en-US" sz="2504">
                <a:latin typeface="Arial"/>
                <a:ea typeface="Arial"/>
                <a:cs typeface="Arial"/>
                <a:sym typeface="Arial"/>
              </a:rPr>
              <a:t>Insight:</a:t>
            </a:r>
            <a:endParaRPr b="1" sz="2504">
              <a:latin typeface="Arial"/>
              <a:ea typeface="Arial"/>
              <a:cs typeface="Arial"/>
              <a:sym typeface="Arial"/>
            </a:endParaRPr>
          </a:p>
          <a:p>
            <a:pPr indent="-351831" lvl="0" marL="457200" rtl="0" algn="l">
              <a:lnSpc>
                <a:spcPct val="115000"/>
              </a:lnSpc>
              <a:spcBef>
                <a:spcPts val="1800"/>
              </a:spcBef>
              <a:spcAft>
                <a:spcPts val="0"/>
              </a:spcAft>
              <a:buSzPct val="100000"/>
              <a:buChar char="●"/>
            </a:pPr>
            <a:r>
              <a:rPr lang="en-US" sz="2504">
                <a:latin typeface="Arial"/>
                <a:ea typeface="Arial"/>
                <a:cs typeface="Arial"/>
                <a:sym typeface="Arial"/>
              </a:rPr>
              <a:t>~85% of SpaceX launches have been successful.</a:t>
            </a:r>
            <a:endParaRPr sz="2504">
              <a:latin typeface="Arial"/>
              <a:ea typeface="Arial"/>
              <a:cs typeface="Arial"/>
              <a:sym typeface="Arial"/>
            </a:endParaRPr>
          </a:p>
          <a:p>
            <a:pPr indent="0" lvl="0" marL="0" rtl="0" algn="l">
              <a:spcBef>
                <a:spcPts val="1800"/>
              </a:spcBef>
              <a:spcAft>
                <a:spcPts val="0"/>
              </a:spcAft>
              <a:buClr>
                <a:schemeClr val="dk1"/>
              </a:buClr>
              <a:buSzPct val="34375"/>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585775" y="-12"/>
            <a:ext cx="8229600" cy="1143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Launch Outcome Distribution</a:t>
            </a:r>
            <a:endParaRPr/>
          </a:p>
        </p:txBody>
      </p:sp>
      <p:sp>
        <p:nvSpPr>
          <p:cNvPr id="188" name="Google Shape;188;p3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189" name="Google Shape;189;p30" title="Screenshot 2025-04-28 at 17-51-35 SpaceX Predictive Analysis Methodology.png"/>
          <p:cNvPicPr preferRelativeResize="0"/>
          <p:nvPr/>
        </p:nvPicPr>
        <p:blipFill>
          <a:blip r:embed="rId3">
            <a:alphaModFix/>
          </a:blip>
          <a:stretch>
            <a:fillRect/>
          </a:stretch>
        </p:blipFill>
        <p:spPr>
          <a:xfrm>
            <a:off x="0" y="1524298"/>
            <a:ext cx="9144000" cy="38094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S</a:t>
            </a:r>
            <a:r>
              <a:rPr lang="en-US"/>
              <a:t>QL Query - Launches by Site</a:t>
            </a:r>
            <a:endParaRPr/>
          </a:p>
        </p:txBody>
      </p:sp>
      <p:sp>
        <p:nvSpPr>
          <p:cNvPr id="195" name="Google Shape;195;p31"/>
          <p:cNvSpPr txBox="1"/>
          <p:nvPr>
            <p:ph idx="1" type="body"/>
          </p:nvPr>
        </p:nvSpPr>
        <p:spPr>
          <a:xfrm>
            <a:off x="596500" y="1600200"/>
            <a:ext cx="8229600" cy="4526100"/>
          </a:xfrm>
          <a:prstGeom prst="rect">
            <a:avLst/>
          </a:prstGeom>
        </p:spPr>
        <p:txBody>
          <a:bodyPr anchorCtr="0" anchor="t" bIns="45700" lIns="91425" spcFirstLastPara="1" rIns="91425" wrap="square" tIns="45700">
            <a:normAutofit fontScale="85000" lnSpcReduction="20000"/>
          </a:bodyPr>
          <a:lstStyle/>
          <a:p>
            <a:pPr indent="0" lvl="0" marL="0" rtl="0" algn="l">
              <a:spcBef>
                <a:spcPts val="360"/>
              </a:spcBef>
              <a:spcAft>
                <a:spcPts val="0"/>
              </a:spcAft>
              <a:buClr>
                <a:schemeClr val="dk1"/>
              </a:buClr>
              <a:buSzPct val="45833"/>
              <a:buFont typeface="Arial"/>
              <a:buNone/>
            </a:pPr>
            <a:r>
              <a:rPr lang="en-US" sz="2400">
                <a:solidFill>
                  <a:srgbClr val="4A86E8"/>
                </a:solidFill>
              </a:rPr>
              <a:t>SELECT</a:t>
            </a:r>
            <a:r>
              <a:rPr lang="en-US" sz="2400"/>
              <a:t> launch_site, </a:t>
            </a:r>
            <a:r>
              <a:rPr lang="en-US" sz="2400">
                <a:solidFill>
                  <a:srgbClr val="4A86E8"/>
                </a:solidFill>
              </a:rPr>
              <a:t>COUNT(</a:t>
            </a:r>
            <a:r>
              <a:rPr lang="en-US" sz="2400"/>
              <a:t>*) </a:t>
            </a:r>
            <a:r>
              <a:rPr lang="en-US" sz="2400">
                <a:solidFill>
                  <a:srgbClr val="4A86E8"/>
                </a:solidFill>
              </a:rPr>
              <a:t>AS </a:t>
            </a:r>
            <a:r>
              <a:rPr lang="en-US" sz="2400"/>
              <a:t>launches</a:t>
            </a:r>
            <a:endParaRPr sz="2400"/>
          </a:p>
          <a:p>
            <a:pPr indent="0" lvl="0" marL="0" rtl="0" algn="l">
              <a:spcBef>
                <a:spcPts val="360"/>
              </a:spcBef>
              <a:spcAft>
                <a:spcPts val="0"/>
              </a:spcAft>
              <a:buClr>
                <a:schemeClr val="dk1"/>
              </a:buClr>
              <a:buSzPct val="45833"/>
              <a:buFont typeface="Arial"/>
              <a:buNone/>
            </a:pPr>
            <a:r>
              <a:rPr lang="en-US" sz="2400">
                <a:solidFill>
                  <a:srgbClr val="4A86E8"/>
                </a:solidFill>
              </a:rPr>
              <a:t>FROM</a:t>
            </a:r>
            <a:r>
              <a:rPr lang="en-US" sz="2400"/>
              <a:t> spacex_launch_data</a:t>
            </a:r>
            <a:endParaRPr sz="2400"/>
          </a:p>
          <a:p>
            <a:pPr indent="0" lvl="0" marL="0" rtl="0" algn="l">
              <a:spcBef>
                <a:spcPts val="360"/>
              </a:spcBef>
              <a:spcAft>
                <a:spcPts val="0"/>
              </a:spcAft>
              <a:buNone/>
            </a:pPr>
            <a:r>
              <a:rPr lang="en-US" sz="2400">
                <a:solidFill>
                  <a:srgbClr val="4A86E8"/>
                </a:solidFill>
              </a:rPr>
              <a:t>GROUP BY</a:t>
            </a:r>
            <a:r>
              <a:rPr lang="en-US" sz="2400"/>
              <a:t> launch_site;</a:t>
            </a:r>
            <a:endParaRPr sz="2400"/>
          </a:p>
          <a:p>
            <a:pPr indent="0" lvl="0" marL="0" rtl="0" algn="l">
              <a:spcBef>
                <a:spcPts val="360"/>
              </a:spcBef>
              <a:spcAft>
                <a:spcPts val="0"/>
              </a:spcAft>
              <a:buNone/>
            </a:pPr>
            <a:r>
              <a:t/>
            </a:r>
            <a:endParaRPr sz="2400"/>
          </a:p>
          <a:p>
            <a:pPr indent="0" lvl="0" marL="0" rtl="0" algn="l">
              <a:spcBef>
                <a:spcPts val="360"/>
              </a:spcBef>
              <a:spcAft>
                <a:spcPts val="0"/>
              </a:spcAft>
              <a:buNone/>
            </a:pPr>
            <a:r>
              <a:rPr b="1" lang="en-US" sz="2000">
                <a:solidFill>
                  <a:srgbClr val="000000"/>
                </a:solidFill>
                <a:latin typeface="Arial"/>
                <a:ea typeface="Arial"/>
                <a:cs typeface="Arial"/>
                <a:sym typeface="Arial"/>
              </a:rPr>
              <a:t>Launch Site                                             Launches</a:t>
            </a:r>
            <a:endParaRPr b="1" sz="2000">
              <a:solidFill>
                <a:srgbClr val="000000"/>
              </a:solidFill>
              <a:latin typeface="Arial"/>
              <a:ea typeface="Arial"/>
              <a:cs typeface="Arial"/>
              <a:sym typeface="Arial"/>
            </a:endParaRPr>
          </a:p>
          <a:p>
            <a:pPr indent="0" lvl="0" marL="0" rtl="0" algn="l">
              <a:spcBef>
                <a:spcPts val="0"/>
              </a:spcBef>
              <a:spcAft>
                <a:spcPts val="0"/>
              </a:spcAft>
              <a:buNone/>
            </a:pPr>
            <a:r>
              <a:rPr lang="en-US" sz="1900">
                <a:solidFill>
                  <a:srgbClr val="000000"/>
                </a:solidFill>
                <a:latin typeface="Arial"/>
                <a:ea typeface="Arial"/>
                <a:cs typeface="Arial"/>
                <a:sym typeface="Arial"/>
              </a:rPr>
              <a:t>KSC LC-39A                                                     30</a:t>
            </a:r>
            <a:endParaRPr sz="1900">
              <a:solidFill>
                <a:srgbClr val="000000"/>
              </a:solidFill>
              <a:latin typeface="Arial"/>
              <a:ea typeface="Arial"/>
              <a:cs typeface="Arial"/>
              <a:sym typeface="Arial"/>
            </a:endParaRPr>
          </a:p>
          <a:p>
            <a:pPr indent="0" lvl="0" marL="0" rtl="0" algn="l">
              <a:spcBef>
                <a:spcPts val="0"/>
              </a:spcBef>
              <a:spcAft>
                <a:spcPts val="0"/>
              </a:spcAft>
              <a:buNone/>
            </a:pPr>
            <a:r>
              <a:t/>
            </a:r>
            <a:endParaRPr sz="1900">
              <a:solidFill>
                <a:srgbClr val="000000"/>
              </a:solidFill>
              <a:latin typeface="Arial"/>
              <a:ea typeface="Arial"/>
              <a:cs typeface="Arial"/>
              <a:sym typeface="Arial"/>
            </a:endParaRPr>
          </a:p>
          <a:p>
            <a:pPr indent="0" lvl="0" marL="0" rtl="0" algn="l">
              <a:spcBef>
                <a:spcPts val="0"/>
              </a:spcBef>
              <a:spcAft>
                <a:spcPts val="0"/>
              </a:spcAft>
              <a:buNone/>
            </a:pPr>
            <a:r>
              <a:rPr lang="en-US" sz="1900">
                <a:solidFill>
                  <a:srgbClr val="000000"/>
                </a:solidFill>
                <a:latin typeface="Arial"/>
                <a:ea typeface="Arial"/>
                <a:cs typeface="Arial"/>
                <a:sym typeface="Arial"/>
              </a:rPr>
              <a:t>CCAFS SLC-40                                                45</a:t>
            </a:r>
            <a:endParaRPr sz="1900">
              <a:solidFill>
                <a:srgbClr val="000000"/>
              </a:solidFill>
              <a:latin typeface="Arial"/>
              <a:ea typeface="Arial"/>
              <a:cs typeface="Arial"/>
              <a:sym typeface="Arial"/>
            </a:endParaRPr>
          </a:p>
          <a:p>
            <a:pPr indent="0" lvl="0" marL="0" rtl="0" algn="l">
              <a:spcBef>
                <a:spcPts val="0"/>
              </a:spcBef>
              <a:spcAft>
                <a:spcPts val="0"/>
              </a:spcAft>
              <a:buNone/>
            </a:pPr>
            <a:r>
              <a:t/>
            </a:r>
            <a:endParaRPr sz="1900">
              <a:solidFill>
                <a:srgbClr val="000000"/>
              </a:solidFill>
              <a:latin typeface="Arial"/>
              <a:ea typeface="Arial"/>
              <a:cs typeface="Arial"/>
              <a:sym typeface="Arial"/>
            </a:endParaRPr>
          </a:p>
          <a:p>
            <a:pPr indent="0" lvl="0" marL="0" rtl="0" algn="l">
              <a:spcBef>
                <a:spcPts val="0"/>
              </a:spcBef>
              <a:spcAft>
                <a:spcPts val="0"/>
              </a:spcAft>
              <a:buNone/>
            </a:pPr>
            <a:r>
              <a:rPr lang="en-US" sz="1900">
                <a:solidFill>
                  <a:srgbClr val="000000"/>
                </a:solidFill>
                <a:latin typeface="Arial"/>
                <a:ea typeface="Arial"/>
                <a:cs typeface="Arial"/>
                <a:sym typeface="Arial"/>
              </a:rPr>
              <a:t>VAFB SLC-4E                                                   25</a:t>
            </a:r>
            <a:endParaRPr sz="1900">
              <a:solidFill>
                <a:srgbClr val="000000"/>
              </a:solidFill>
              <a:latin typeface="Arial"/>
              <a:ea typeface="Arial"/>
              <a:cs typeface="Arial"/>
              <a:sym typeface="Arial"/>
            </a:endParaRPr>
          </a:p>
          <a:p>
            <a:pPr indent="0" lvl="0" marL="0" rtl="0" algn="l">
              <a:spcBef>
                <a:spcPts val="360"/>
              </a:spcBef>
              <a:spcAft>
                <a:spcPts val="0"/>
              </a:spcAft>
              <a:buClr>
                <a:schemeClr val="dk1"/>
              </a:buClr>
              <a:buSzPct val="34375"/>
              <a:buFont typeface="Arial"/>
              <a:buNone/>
            </a:pPr>
            <a:r>
              <a:t/>
            </a:r>
            <a:endParaRPr/>
          </a:p>
          <a:p>
            <a:pPr indent="0" lvl="0" marL="0" rtl="0" algn="l">
              <a:lnSpc>
                <a:spcPct val="115000"/>
              </a:lnSpc>
              <a:spcBef>
                <a:spcPts val="1800"/>
              </a:spcBef>
              <a:spcAft>
                <a:spcPts val="0"/>
              </a:spcAft>
              <a:buClr>
                <a:schemeClr val="dk1"/>
              </a:buClr>
              <a:buSzPct val="49354"/>
              <a:buFont typeface="Arial"/>
              <a:buNone/>
            </a:pPr>
            <a:r>
              <a:rPr b="1" lang="en-US" sz="2228">
                <a:latin typeface="Arial"/>
                <a:ea typeface="Arial"/>
                <a:cs typeface="Arial"/>
                <a:sym typeface="Arial"/>
              </a:rPr>
              <a:t>Insight:</a:t>
            </a:r>
            <a:endParaRPr b="1" sz="2228">
              <a:latin typeface="Arial"/>
              <a:ea typeface="Arial"/>
              <a:cs typeface="Arial"/>
              <a:sym typeface="Arial"/>
            </a:endParaRPr>
          </a:p>
          <a:p>
            <a:pPr indent="-348898" lvl="0" marL="457200" rtl="0" algn="l">
              <a:lnSpc>
                <a:spcPct val="115000"/>
              </a:lnSpc>
              <a:spcBef>
                <a:spcPts val="1800"/>
              </a:spcBef>
              <a:spcAft>
                <a:spcPts val="0"/>
              </a:spcAft>
              <a:buSzPct val="100000"/>
              <a:buChar char="●"/>
            </a:pPr>
            <a:r>
              <a:rPr lang="en-US" sz="2228">
                <a:latin typeface="Arial"/>
                <a:ea typeface="Arial"/>
                <a:cs typeface="Arial"/>
                <a:sym typeface="Arial"/>
              </a:rPr>
              <a:t>CCAFS SLC-40 has the highest number of launches.</a:t>
            </a:r>
            <a:endParaRPr sz="2228">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Number of Launches by Site</a:t>
            </a:r>
            <a:endParaRPr/>
          </a:p>
        </p:txBody>
      </p:sp>
      <p:sp>
        <p:nvSpPr>
          <p:cNvPr id="201" name="Google Shape;201;p32"/>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02" name="Google Shape;202;p32" title="Screenshot 2025-04-28 at 17-55-21 SpaceX Predictive Analysis Methodology.png"/>
          <p:cNvPicPr preferRelativeResize="0"/>
          <p:nvPr/>
        </p:nvPicPr>
        <p:blipFill>
          <a:blip r:embed="rId3">
            <a:alphaModFix/>
          </a:blip>
          <a:stretch>
            <a:fillRect/>
          </a:stretch>
        </p:blipFill>
        <p:spPr>
          <a:xfrm>
            <a:off x="0" y="1432726"/>
            <a:ext cx="9144000" cy="4526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SQL Query - Payload Mass Distribution</a:t>
            </a:r>
            <a:endParaRPr/>
          </a:p>
        </p:txBody>
      </p:sp>
      <p:sp>
        <p:nvSpPr>
          <p:cNvPr id="208" name="Google Shape;208;p33"/>
          <p:cNvSpPr txBox="1"/>
          <p:nvPr>
            <p:ph idx="1" type="body"/>
          </p:nvPr>
        </p:nvSpPr>
        <p:spPr>
          <a:xfrm>
            <a:off x="675075" y="1318025"/>
            <a:ext cx="8729700" cy="4861800"/>
          </a:xfrm>
          <a:prstGeom prst="rect">
            <a:avLst/>
          </a:prstGeom>
        </p:spPr>
        <p:txBody>
          <a:bodyPr anchorCtr="0" anchor="t" bIns="45700" lIns="91425" spcFirstLastPara="1" rIns="91425" wrap="square" tIns="45700">
            <a:normAutofit fontScale="25000" lnSpcReduction="20000"/>
          </a:bodyPr>
          <a:lstStyle/>
          <a:p>
            <a:pPr indent="0" lvl="0" marL="0" rtl="0" algn="l">
              <a:spcBef>
                <a:spcPts val="360"/>
              </a:spcBef>
              <a:spcAft>
                <a:spcPts val="0"/>
              </a:spcAft>
              <a:buClr>
                <a:schemeClr val="dk1"/>
              </a:buClr>
              <a:buSzPts val="275"/>
              <a:buFont typeface="Arial"/>
              <a:buNone/>
            </a:pPr>
            <a:r>
              <a:rPr lang="en-US" sz="6847">
                <a:solidFill>
                  <a:srgbClr val="4A86E8"/>
                </a:solidFill>
              </a:rPr>
              <a:t>SELECT</a:t>
            </a:r>
            <a:endParaRPr sz="6847">
              <a:solidFill>
                <a:srgbClr val="4A86E8"/>
              </a:solidFill>
            </a:endParaRPr>
          </a:p>
          <a:p>
            <a:pPr indent="0" lvl="0" marL="0" rtl="0" algn="l">
              <a:spcBef>
                <a:spcPts val="360"/>
              </a:spcBef>
              <a:spcAft>
                <a:spcPts val="0"/>
              </a:spcAft>
              <a:buClr>
                <a:schemeClr val="dk1"/>
              </a:buClr>
              <a:buSzPts val="275"/>
              <a:buFont typeface="Arial"/>
              <a:buNone/>
            </a:pPr>
            <a:r>
              <a:rPr lang="en-US" sz="6847"/>
              <a:t>	</a:t>
            </a:r>
            <a:r>
              <a:rPr lang="en-US" sz="6847">
                <a:solidFill>
                  <a:schemeClr val="accent1"/>
                </a:solidFill>
              </a:rPr>
              <a:t>CASE</a:t>
            </a:r>
            <a:endParaRPr sz="6847">
              <a:solidFill>
                <a:schemeClr val="accent1"/>
              </a:solidFill>
            </a:endParaRPr>
          </a:p>
          <a:p>
            <a:pPr indent="0" lvl="0" marL="0" rtl="0" algn="l">
              <a:spcBef>
                <a:spcPts val="360"/>
              </a:spcBef>
              <a:spcAft>
                <a:spcPts val="0"/>
              </a:spcAft>
              <a:buClr>
                <a:schemeClr val="dk1"/>
              </a:buClr>
              <a:buSzPts val="275"/>
              <a:buFont typeface="Arial"/>
              <a:buNone/>
            </a:pPr>
            <a:r>
              <a:rPr lang="en-US" sz="6847"/>
              <a:t>    	</a:t>
            </a:r>
            <a:r>
              <a:rPr lang="en-US" sz="6847">
                <a:solidFill>
                  <a:schemeClr val="accent1"/>
                </a:solidFill>
              </a:rPr>
              <a:t>WHEN</a:t>
            </a:r>
            <a:r>
              <a:rPr lang="en-US" sz="6847"/>
              <a:t> payload_mass_kg &lt; 2000 </a:t>
            </a:r>
            <a:r>
              <a:rPr lang="en-US" sz="6847">
                <a:solidFill>
                  <a:schemeClr val="accent1"/>
                </a:solidFill>
              </a:rPr>
              <a:t>THEN</a:t>
            </a:r>
            <a:r>
              <a:rPr lang="en-US" sz="6847"/>
              <a:t> 'Light (&lt;2,000kg)'</a:t>
            </a:r>
            <a:endParaRPr sz="6847"/>
          </a:p>
          <a:p>
            <a:pPr indent="0" lvl="0" marL="0" rtl="0" algn="l">
              <a:spcBef>
                <a:spcPts val="360"/>
              </a:spcBef>
              <a:spcAft>
                <a:spcPts val="0"/>
              </a:spcAft>
              <a:buClr>
                <a:schemeClr val="dk1"/>
              </a:buClr>
              <a:buSzPts val="275"/>
              <a:buFont typeface="Arial"/>
              <a:buNone/>
            </a:pPr>
            <a:r>
              <a:rPr lang="en-US" sz="6847"/>
              <a:t>    	</a:t>
            </a:r>
            <a:r>
              <a:rPr lang="en-US" sz="6847">
                <a:solidFill>
                  <a:schemeClr val="accent1"/>
                </a:solidFill>
              </a:rPr>
              <a:t>WHEN</a:t>
            </a:r>
            <a:r>
              <a:rPr lang="en-US" sz="6847"/>
              <a:t> payload_mass_kg </a:t>
            </a:r>
            <a:r>
              <a:rPr lang="en-US" sz="6847">
                <a:solidFill>
                  <a:schemeClr val="accent1"/>
                </a:solidFill>
              </a:rPr>
              <a:t>BETWEEN</a:t>
            </a:r>
            <a:r>
              <a:rPr lang="en-US" sz="6847"/>
              <a:t> 2000 AND 6000 THEN 'Medium (2,000-6,000kg)'</a:t>
            </a:r>
            <a:endParaRPr sz="6847"/>
          </a:p>
          <a:p>
            <a:pPr indent="0" lvl="0" marL="0" rtl="0" algn="l">
              <a:spcBef>
                <a:spcPts val="360"/>
              </a:spcBef>
              <a:spcAft>
                <a:spcPts val="0"/>
              </a:spcAft>
              <a:buClr>
                <a:schemeClr val="dk1"/>
              </a:buClr>
              <a:buSzPts val="275"/>
              <a:buFont typeface="Arial"/>
              <a:buNone/>
            </a:pPr>
            <a:r>
              <a:rPr lang="en-US" sz="6847"/>
              <a:t>    	</a:t>
            </a:r>
            <a:r>
              <a:rPr lang="en-US" sz="6847">
                <a:solidFill>
                  <a:schemeClr val="accent1"/>
                </a:solidFill>
              </a:rPr>
              <a:t>ELSE </a:t>
            </a:r>
            <a:r>
              <a:rPr lang="en-US" sz="6847"/>
              <a:t>'Heavy (&gt;6,000kg)'</a:t>
            </a:r>
            <a:endParaRPr sz="6847"/>
          </a:p>
          <a:p>
            <a:pPr indent="0" lvl="0" marL="0" rtl="0" algn="l">
              <a:spcBef>
                <a:spcPts val="360"/>
              </a:spcBef>
              <a:spcAft>
                <a:spcPts val="0"/>
              </a:spcAft>
              <a:buClr>
                <a:schemeClr val="dk1"/>
              </a:buClr>
              <a:buSzPts val="275"/>
              <a:buFont typeface="Arial"/>
              <a:buNone/>
            </a:pPr>
            <a:r>
              <a:rPr lang="en-US" sz="6847"/>
              <a:t>	</a:t>
            </a:r>
            <a:r>
              <a:rPr lang="en-US" sz="6847">
                <a:solidFill>
                  <a:schemeClr val="accent1"/>
                </a:solidFill>
              </a:rPr>
              <a:t>END AS</a:t>
            </a:r>
            <a:r>
              <a:rPr lang="en-US" sz="6847"/>
              <a:t> payload_category,</a:t>
            </a:r>
            <a:endParaRPr sz="6847"/>
          </a:p>
          <a:p>
            <a:pPr indent="0" lvl="0" marL="0" rtl="0" algn="l">
              <a:spcBef>
                <a:spcPts val="360"/>
              </a:spcBef>
              <a:spcAft>
                <a:spcPts val="0"/>
              </a:spcAft>
              <a:buClr>
                <a:schemeClr val="dk1"/>
              </a:buClr>
              <a:buSzPts val="275"/>
              <a:buFont typeface="Arial"/>
              <a:buNone/>
            </a:pPr>
            <a:r>
              <a:rPr lang="en-US" sz="6847"/>
              <a:t>	</a:t>
            </a:r>
            <a:r>
              <a:rPr lang="en-US" sz="6847">
                <a:solidFill>
                  <a:schemeClr val="accent1"/>
                </a:solidFill>
              </a:rPr>
              <a:t>COUNT</a:t>
            </a:r>
            <a:r>
              <a:rPr lang="en-US" sz="6847"/>
              <a:t>(*) </a:t>
            </a:r>
            <a:r>
              <a:rPr lang="en-US" sz="6847">
                <a:solidFill>
                  <a:schemeClr val="accent1"/>
                </a:solidFill>
              </a:rPr>
              <a:t>AS</a:t>
            </a:r>
            <a:r>
              <a:rPr lang="en-US" sz="6847"/>
              <a:t> launches</a:t>
            </a:r>
            <a:endParaRPr sz="6847"/>
          </a:p>
          <a:p>
            <a:pPr indent="0" lvl="0" marL="0" rtl="0" algn="l">
              <a:spcBef>
                <a:spcPts val="360"/>
              </a:spcBef>
              <a:spcAft>
                <a:spcPts val="0"/>
              </a:spcAft>
              <a:buClr>
                <a:schemeClr val="dk1"/>
              </a:buClr>
              <a:buSzPts val="275"/>
              <a:buFont typeface="Arial"/>
              <a:buNone/>
            </a:pPr>
            <a:r>
              <a:rPr lang="en-US" sz="6847">
                <a:solidFill>
                  <a:schemeClr val="accent1"/>
                </a:solidFill>
              </a:rPr>
              <a:t>FROM</a:t>
            </a:r>
            <a:r>
              <a:rPr lang="en-US" sz="6847"/>
              <a:t> spacex_launch_data</a:t>
            </a:r>
            <a:endParaRPr sz="6847"/>
          </a:p>
          <a:p>
            <a:pPr indent="0" lvl="0" marL="0" rtl="0" algn="l">
              <a:spcBef>
                <a:spcPts val="360"/>
              </a:spcBef>
              <a:spcAft>
                <a:spcPts val="0"/>
              </a:spcAft>
              <a:buClr>
                <a:schemeClr val="dk1"/>
              </a:buClr>
              <a:buSzPts val="275"/>
              <a:buFont typeface="Arial"/>
              <a:buNone/>
            </a:pPr>
            <a:r>
              <a:rPr lang="en-US" sz="6847">
                <a:solidFill>
                  <a:schemeClr val="accent1"/>
                </a:solidFill>
              </a:rPr>
              <a:t>GROUP BY</a:t>
            </a:r>
            <a:r>
              <a:rPr lang="en-US" sz="6847"/>
              <a:t> payload_category;</a:t>
            </a:r>
            <a:endParaRPr sz="6847"/>
          </a:p>
          <a:p>
            <a:pPr indent="0" lvl="0" marL="0" rtl="0" algn="l">
              <a:lnSpc>
                <a:spcPct val="115000"/>
              </a:lnSpc>
              <a:spcBef>
                <a:spcPts val="0"/>
              </a:spcBef>
              <a:spcAft>
                <a:spcPts val="0"/>
              </a:spcAft>
              <a:buNone/>
            </a:pPr>
            <a:r>
              <a:t/>
            </a:r>
            <a:endParaRPr b="1" sz="4328">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b="1" sz="4328">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US" sz="7428">
                <a:solidFill>
                  <a:srgbClr val="000000"/>
                </a:solidFill>
                <a:latin typeface="Arial"/>
                <a:ea typeface="Arial"/>
                <a:cs typeface="Arial"/>
                <a:sym typeface="Arial"/>
              </a:rPr>
              <a:t>Payload Category                                Launches</a:t>
            </a:r>
            <a:endParaRPr b="1" sz="7428">
              <a:solidFill>
                <a:srgbClr val="000000"/>
              </a:solidFill>
              <a:latin typeface="Arial"/>
              <a:ea typeface="Arial"/>
              <a:cs typeface="Arial"/>
              <a:sym typeface="Arial"/>
            </a:endParaRPr>
          </a:p>
          <a:p>
            <a:pPr indent="0" lvl="0" marL="0" rtl="0" algn="l">
              <a:spcBef>
                <a:spcPts val="0"/>
              </a:spcBef>
              <a:spcAft>
                <a:spcPts val="0"/>
              </a:spcAft>
              <a:buNone/>
            </a:pPr>
            <a:r>
              <a:rPr lang="en-US" sz="7328">
                <a:solidFill>
                  <a:srgbClr val="000000"/>
                </a:solidFill>
                <a:latin typeface="Arial"/>
                <a:ea typeface="Arial"/>
                <a:cs typeface="Arial"/>
                <a:sym typeface="Arial"/>
              </a:rPr>
              <a:t>Light (&lt;2,000kg)                                                  40</a:t>
            </a:r>
            <a:endParaRPr sz="7328">
              <a:solidFill>
                <a:srgbClr val="000000"/>
              </a:solidFill>
              <a:latin typeface="Arial"/>
              <a:ea typeface="Arial"/>
              <a:cs typeface="Arial"/>
              <a:sym typeface="Arial"/>
            </a:endParaRPr>
          </a:p>
          <a:p>
            <a:pPr indent="0" lvl="0" marL="0" rtl="0" algn="l">
              <a:spcBef>
                <a:spcPts val="0"/>
              </a:spcBef>
              <a:spcAft>
                <a:spcPts val="0"/>
              </a:spcAft>
              <a:buNone/>
            </a:pPr>
            <a:r>
              <a:rPr lang="en-US" sz="7328">
                <a:solidFill>
                  <a:srgbClr val="000000"/>
                </a:solidFill>
                <a:latin typeface="Arial"/>
                <a:ea typeface="Arial"/>
                <a:cs typeface="Arial"/>
                <a:sym typeface="Arial"/>
              </a:rPr>
              <a:t>Medium (2,000-6,000kg)                                     35</a:t>
            </a:r>
            <a:endParaRPr sz="7328">
              <a:solidFill>
                <a:srgbClr val="000000"/>
              </a:solidFill>
              <a:latin typeface="Arial"/>
              <a:ea typeface="Arial"/>
              <a:cs typeface="Arial"/>
              <a:sym typeface="Arial"/>
            </a:endParaRPr>
          </a:p>
          <a:p>
            <a:pPr indent="0" lvl="0" marL="0" rtl="0" algn="l">
              <a:spcBef>
                <a:spcPts val="0"/>
              </a:spcBef>
              <a:spcAft>
                <a:spcPts val="0"/>
              </a:spcAft>
              <a:buNone/>
            </a:pPr>
            <a:r>
              <a:rPr lang="en-US" sz="7328">
                <a:solidFill>
                  <a:srgbClr val="000000"/>
                </a:solidFill>
                <a:latin typeface="Arial"/>
                <a:ea typeface="Arial"/>
                <a:cs typeface="Arial"/>
                <a:sym typeface="Arial"/>
              </a:rPr>
              <a:t>Heavy (&gt;6,000kg)                                                25</a:t>
            </a:r>
            <a:endParaRPr sz="7328">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rPr b="1" lang="en-US" sz="7853">
                <a:latin typeface="Arial"/>
                <a:ea typeface="Arial"/>
                <a:cs typeface="Arial"/>
                <a:sym typeface="Arial"/>
              </a:rPr>
              <a:t>Insight:</a:t>
            </a:r>
            <a:endParaRPr b="1" sz="7853">
              <a:latin typeface="Arial"/>
              <a:ea typeface="Arial"/>
              <a:cs typeface="Arial"/>
              <a:sym typeface="Arial"/>
            </a:endParaRPr>
          </a:p>
          <a:p>
            <a:pPr indent="-353270" lvl="0" marL="457200" rtl="0" algn="l">
              <a:lnSpc>
                <a:spcPct val="115000"/>
              </a:lnSpc>
              <a:spcBef>
                <a:spcPts val="1800"/>
              </a:spcBef>
              <a:spcAft>
                <a:spcPts val="0"/>
              </a:spcAft>
              <a:buSzPct val="100000"/>
              <a:buChar char="●"/>
            </a:pPr>
            <a:r>
              <a:rPr lang="en-US" sz="7853">
                <a:latin typeface="Arial"/>
                <a:ea typeface="Arial"/>
                <a:cs typeface="Arial"/>
                <a:sym typeface="Arial"/>
              </a:rPr>
              <a:t>Most launches are with light to medium payloads.</a:t>
            </a:r>
            <a:br>
              <a:rPr lang="en-US" sz="7853">
                <a:latin typeface="Arial"/>
                <a:ea typeface="Arial"/>
                <a:cs typeface="Arial"/>
                <a:sym typeface="Arial"/>
              </a:rPr>
            </a:br>
            <a:endParaRPr sz="7853">
              <a:latin typeface="Arial"/>
              <a:ea typeface="Arial"/>
              <a:cs typeface="Arial"/>
              <a:sym typeface="Arial"/>
            </a:endParaRPr>
          </a:p>
          <a:p>
            <a:pPr indent="0" lvl="0" marL="0" rtl="0" algn="l">
              <a:spcBef>
                <a:spcPts val="1800"/>
              </a:spcBef>
              <a:spcAft>
                <a:spcPts val="0"/>
              </a:spcAft>
              <a:buClr>
                <a:schemeClr val="dk1"/>
              </a:buClr>
              <a:buSzPct val="34375"/>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4"/>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Launches by Payload Mass Category</a:t>
            </a:r>
            <a:endParaRPr/>
          </a:p>
        </p:txBody>
      </p:sp>
      <p:sp>
        <p:nvSpPr>
          <p:cNvPr id="214" name="Google Shape;214;p3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15" name="Google Shape;215;p34" title="Screenshot 2025-04-28 at 17-58-50 SpaceX Predictive Analysis Methodology.png"/>
          <p:cNvPicPr preferRelativeResize="0"/>
          <p:nvPr/>
        </p:nvPicPr>
        <p:blipFill>
          <a:blip r:embed="rId3">
            <a:alphaModFix/>
          </a:blip>
          <a:stretch>
            <a:fillRect/>
          </a:stretch>
        </p:blipFill>
        <p:spPr>
          <a:xfrm>
            <a:off x="0" y="1369226"/>
            <a:ext cx="9144000" cy="4652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1400"/>
              </a:spcBef>
              <a:spcAft>
                <a:spcPts val="0"/>
              </a:spcAft>
              <a:buNone/>
            </a:pPr>
            <a:r>
              <a:t/>
            </a:r>
            <a:endParaRPr b="1" sz="1300">
              <a:latin typeface="Arial"/>
              <a:ea typeface="Arial"/>
              <a:cs typeface="Arial"/>
              <a:sym typeface="Arial"/>
            </a:endParaRPr>
          </a:p>
          <a:p>
            <a:pPr indent="0" lvl="0" marL="0" rtl="0" algn="l">
              <a:lnSpc>
                <a:spcPct val="115000"/>
              </a:lnSpc>
              <a:spcBef>
                <a:spcPts val="1400"/>
              </a:spcBef>
              <a:spcAft>
                <a:spcPts val="0"/>
              </a:spcAft>
              <a:buNone/>
            </a:pPr>
            <a:r>
              <a:t/>
            </a:r>
            <a:endParaRPr b="1" sz="1300">
              <a:latin typeface="Arial"/>
              <a:ea typeface="Arial"/>
              <a:cs typeface="Arial"/>
              <a:sym typeface="Arial"/>
            </a:endParaRPr>
          </a:p>
          <a:p>
            <a:pPr indent="0" lvl="0" marL="0" rtl="0" algn="l">
              <a:lnSpc>
                <a:spcPct val="115000"/>
              </a:lnSpc>
              <a:spcBef>
                <a:spcPts val="1400"/>
              </a:spcBef>
              <a:spcAft>
                <a:spcPts val="0"/>
              </a:spcAft>
              <a:buClr>
                <a:schemeClr val="dk1"/>
              </a:buClr>
              <a:buSzPct val="35740"/>
              <a:buFont typeface="Arial"/>
              <a:buNone/>
            </a:pPr>
            <a:r>
              <a:rPr b="1" lang="en-US" sz="3077">
                <a:latin typeface="Arial"/>
                <a:ea typeface="Arial"/>
                <a:cs typeface="Arial"/>
                <a:sym typeface="Arial"/>
              </a:rPr>
              <a:t>    SQL Query - Success Rate by Orbit Type</a:t>
            </a:r>
            <a:endParaRPr b="1" sz="3077">
              <a:latin typeface="Arial"/>
              <a:ea typeface="Arial"/>
              <a:cs typeface="Arial"/>
              <a:sym typeface="Arial"/>
            </a:endParaRPr>
          </a:p>
          <a:p>
            <a:pPr indent="0" lvl="0" marL="0" rtl="0" algn="l">
              <a:lnSpc>
                <a:spcPct val="115000"/>
              </a:lnSpc>
              <a:spcBef>
                <a:spcPts val="1800"/>
              </a:spcBef>
              <a:spcAft>
                <a:spcPts val="0"/>
              </a:spcAft>
              <a:buClr>
                <a:schemeClr val="dk1"/>
              </a:buClr>
              <a:buSzPct val="100000"/>
              <a:buFont typeface="Arial"/>
              <a:buNone/>
            </a:pPr>
            <a:r>
              <a:t/>
            </a:r>
            <a:endParaRPr b="1" sz="1100">
              <a:latin typeface="Arial"/>
              <a:ea typeface="Arial"/>
              <a:cs typeface="Arial"/>
              <a:sym typeface="Arial"/>
            </a:endParaRPr>
          </a:p>
          <a:p>
            <a:pPr indent="0" lvl="0" marL="0" rtl="0" algn="l">
              <a:spcBef>
                <a:spcPts val="1800"/>
              </a:spcBef>
              <a:spcAft>
                <a:spcPts val="0"/>
              </a:spcAft>
              <a:buNone/>
            </a:pPr>
            <a:r>
              <a:t/>
            </a:r>
            <a:endParaRPr/>
          </a:p>
        </p:txBody>
      </p:sp>
      <p:sp>
        <p:nvSpPr>
          <p:cNvPr id="221" name="Google Shape;221;p35"/>
          <p:cNvSpPr txBox="1"/>
          <p:nvPr>
            <p:ph idx="1" type="body"/>
          </p:nvPr>
        </p:nvSpPr>
        <p:spPr>
          <a:xfrm>
            <a:off x="382175" y="1165950"/>
            <a:ext cx="8229600" cy="4526100"/>
          </a:xfrm>
          <a:prstGeom prst="rect">
            <a:avLst/>
          </a:prstGeom>
        </p:spPr>
        <p:txBody>
          <a:bodyPr anchorCtr="0" anchor="t" bIns="45700" lIns="91425" spcFirstLastPara="1" rIns="91425" wrap="square" tIns="45700">
            <a:normAutofit fontScale="92500" lnSpcReduction="20000"/>
          </a:bodyPr>
          <a:lstStyle/>
          <a:p>
            <a:pPr indent="0" lvl="0" marL="0" rtl="0" algn="l">
              <a:spcBef>
                <a:spcPts val="360"/>
              </a:spcBef>
              <a:spcAft>
                <a:spcPts val="0"/>
              </a:spcAft>
              <a:buClr>
                <a:schemeClr val="dk1"/>
              </a:buClr>
              <a:buSzPct val="55000"/>
              <a:buFont typeface="Arial"/>
              <a:buNone/>
            </a:pPr>
            <a:r>
              <a:rPr lang="en-US" sz="2000">
                <a:solidFill>
                  <a:schemeClr val="accent1"/>
                </a:solidFill>
              </a:rPr>
              <a:t>SELECT </a:t>
            </a:r>
            <a:r>
              <a:rPr lang="en-US" sz="2000"/>
              <a:t>orbit,</a:t>
            </a:r>
            <a:endParaRPr sz="2000"/>
          </a:p>
          <a:p>
            <a:pPr indent="0" lvl="0" marL="0" rtl="0" algn="l">
              <a:spcBef>
                <a:spcPts val="360"/>
              </a:spcBef>
              <a:spcAft>
                <a:spcPts val="0"/>
              </a:spcAft>
              <a:buNone/>
            </a:pPr>
            <a:r>
              <a:rPr lang="en-US" sz="2000"/>
              <a:t>   	</a:t>
            </a:r>
            <a:r>
              <a:rPr lang="en-US" sz="2000">
                <a:solidFill>
                  <a:srgbClr val="DD7E6B"/>
                </a:solidFill>
              </a:rPr>
              <a:t>SUM</a:t>
            </a:r>
            <a:r>
              <a:rPr lang="en-US" sz="2000"/>
              <a:t>(</a:t>
            </a:r>
            <a:r>
              <a:rPr lang="en-US" sz="2000">
                <a:solidFill>
                  <a:srgbClr val="EA9999"/>
                </a:solidFill>
              </a:rPr>
              <a:t>CASE WHEN</a:t>
            </a:r>
            <a:r>
              <a:rPr lang="en-US" sz="2000"/>
              <a:t> outcome = </a:t>
            </a:r>
            <a:r>
              <a:rPr lang="en-US" sz="2000">
                <a:solidFill>
                  <a:srgbClr val="93C47D"/>
                </a:solidFill>
              </a:rPr>
              <a:t>'Success'</a:t>
            </a:r>
            <a:endParaRPr sz="2000">
              <a:solidFill>
                <a:srgbClr val="93C47D"/>
              </a:solidFill>
            </a:endParaRPr>
          </a:p>
          <a:p>
            <a:pPr indent="0" lvl="0" marL="0" rtl="0" algn="l">
              <a:spcBef>
                <a:spcPts val="360"/>
              </a:spcBef>
              <a:spcAft>
                <a:spcPts val="0"/>
              </a:spcAft>
              <a:buClr>
                <a:schemeClr val="dk1"/>
              </a:buClr>
              <a:buSzPct val="55000"/>
              <a:buFont typeface="Arial"/>
              <a:buNone/>
            </a:pPr>
            <a:r>
              <a:rPr lang="en-US" sz="2000"/>
              <a:t> </a:t>
            </a:r>
            <a:r>
              <a:rPr lang="en-US" sz="2000">
                <a:solidFill>
                  <a:schemeClr val="accent1"/>
                </a:solidFill>
              </a:rPr>
              <a:t>THEN</a:t>
            </a:r>
            <a:r>
              <a:rPr lang="en-US" sz="2000"/>
              <a:t> 1 </a:t>
            </a:r>
            <a:r>
              <a:rPr lang="en-US" sz="2000">
                <a:solidFill>
                  <a:schemeClr val="accent1"/>
                </a:solidFill>
              </a:rPr>
              <a:t>ELSE</a:t>
            </a:r>
            <a:r>
              <a:rPr lang="en-US" sz="2000"/>
              <a:t> 0 </a:t>
            </a:r>
            <a:r>
              <a:rPr lang="en-US" sz="2000">
                <a:solidFill>
                  <a:schemeClr val="accent1"/>
                </a:solidFill>
              </a:rPr>
              <a:t>END</a:t>
            </a:r>
            <a:r>
              <a:rPr lang="en-US" sz="2000"/>
              <a:t>) * </a:t>
            </a:r>
            <a:r>
              <a:rPr lang="en-US" sz="2000">
                <a:solidFill>
                  <a:srgbClr val="DD7E6B"/>
                </a:solidFill>
              </a:rPr>
              <a:t>100.0 / COUNT</a:t>
            </a:r>
            <a:r>
              <a:rPr lang="en-US" sz="2000"/>
              <a:t>(*) </a:t>
            </a:r>
            <a:r>
              <a:rPr lang="en-US" sz="2000">
                <a:solidFill>
                  <a:schemeClr val="accent1"/>
                </a:solidFill>
              </a:rPr>
              <a:t>AS </a:t>
            </a:r>
            <a:r>
              <a:rPr lang="en-US" sz="2000"/>
              <a:t>success_rate</a:t>
            </a:r>
            <a:endParaRPr sz="2000"/>
          </a:p>
          <a:p>
            <a:pPr indent="0" lvl="0" marL="0" rtl="0" algn="l">
              <a:spcBef>
                <a:spcPts val="360"/>
              </a:spcBef>
              <a:spcAft>
                <a:spcPts val="0"/>
              </a:spcAft>
              <a:buClr>
                <a:schemeClr val="dk1"/>
              </a:buClr>
              <a:buSzPct val="55000"/>
              <a:buFont typeface="Arial"/>
              <a:buNone/>
            </a:pPr>
            <a:r>
              <a:rPr lang="en-US" sz="2000">
                <a:solidFill>
                  <a:srgbClr val="4A86E8"/>
                </a:solidFill>
              </a:rPr>
              <a:t>FROM </a:t>
            </a:r>
            <a:r>
              <a:rPr lang="en-US" sz="2000"/>
              <a:t>spacex_launch_data</a:t>
            </a:r>
            <a:endParaRPr sz="2000"/>
          </a:p>
          <a:p>
            <a:pPr indent="0" lvl="0" marL="0" rtl="0" algn="l">
              <a:spcBef>
                <a:spcPts val="360"/>
              </a:spcBef>
              <a:spcAft>
                <a:spcPts val="0"/>
              </a:spcAft>
              <a:buClr>
                <a:schemeClr val="dk1"/>
              </a:buClr>
              <a:buSzPct val="55000"/>
              <a:buFont typeface="Arial"/>
              <a:buNone/>
            </a:pPr>
            <a:r>
              <a:rPr lang="en-US" sz="2000">
                <a:solidFill>
                  <a:srgbClr val="4A86E8"/>
                </a:solidFill>
              </a:rPr>
              <a:t>GROUP BY </a:t>
            </a:r>
            <a:r>
              <a:rPr lang="en-US" sz="2000"/>
              <a:t>orbit;</a:t>
            </a:r>
            <a:endParaRPr sz="2000"/>
          </a:p>
          <a:p>
            <a:pPr indent="0" lvl="0" marL="0" rtl="0" algn="ctr">
              <a:lnSpc>
                <a:spcPct val="115000"/>
              </a:lnSpc>
              <a:spcBef>
                <a:spcPts val="0"/>
              </a:spcBef>
              <a:spcAft>
                <a:spcPts val="0"/>
              </a:spcAft>
              <a:buNone/>
            </a:pPr>
            <a:r>
              <a:t/>
            </a:r>
            <a:endParaRPr b="1" sz="1100">
              <a:solidFill>
                <a:srgbClr val="000000"/>
              </a:solidFill>
              <a:latin typeface="Arial"/>
              <a:ea typeface="Arial"/>
              <a:cs typeface="Arial"/>
              <a:sym typeface="Arial"/>
            </a:endParaRPr>
          </a:p>
          <a:p>
            <a:pPr indent="0" lvl="0" marL="0" rtl="0" algn="ctr">
              <a:lnSpc>
                <a:spcPct val="115000"/>
              </a:lnSpc>
              <a:spcBef>
                <a:spcPts val="0"/>
              </a:spcBef>
              <a:spcAft>
                <a:spcPts val="0"/>
              </a:spcAft>
              <a:buNone/>
            </a:pPr>
            <a:r>
              <a:t/>
            </a:r>
            <a:endParaRPr b="1"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US" sz="1800">
                <a:solidFill>
                  <a:srgbClr val="000000"/>
                </a:solidFill>
                <a:latin typeface="Arial"/>
                <a:ea typeface="Arial"/>
                <a:cs typeface="Arial"/>
                <a:sym typeface="Arial"/>
              </a:rPr>
              <a:t>Orbit                                           Success Rate (%)</a:t>
            </a:r>
            <a:endParaRPr b="1" sz="1800">
              <a:solidFill>
                <a:srgbClr val="000000"/>
              </a:solidFill>
              <a:latin typeface="Arial"/>
              <a:ea typeface="Arial"/>
              <a:cs typeface="Arial"/>
              <a:sym typeface="Arial"/>
            </a:endParaRPr>
          </a:p>
          <a:p>
            <a:pPr indent="0" lvl="0" marL="0" rtl="0" algn="l">
              <a:spcBef>
                <a:spcPts val="0"/>
              </a:spcBef>
              <a:spcAft>
                <a:spcPts val="0"/>
              </a:spcAft>
              <a:buNone/>
            </a:pPr>
            <a:r>
              <a:rPr lang="en-US" sz="1600">
                <a:solidFill>
                  <a:srgbClr val="000000"/>
                </a:solidFill>
                <a:latin typeface="Arial"/>
                <a:ea typeface="Arial"/>
                <a:cs typeface="Arial"/>
                <a:sym typeface="Arial"/>
              </a:rPr>
              <a:t>LEO                                                                      92</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US" sz="1600">
                <a:solidFill>
                  <a:srgbClr val="000000"/>
                </a:solidFill>
                <a:latin typeface="Arial"/>
                <a:ea typeface="Arial"/>
                <a:cs typeface="Arial"/>
                <a:sym typeface="Arial"/>
              </a:rPr>
              <a:t>GTO                                                                     88</a:t>
            </a:r>
            <a:endParaRPr sz="1600">
              <a:solidFill>
                <a:srgbClr val="000000"/>
              </a:solidFill>
              <a:latin typeface="Arial"/>
              <a:ea typeface="Arial"/>
              <a:cs typeface="Arial"/>
              <a:sym typeface="Arial"/>
            </a:endParaRPr>
          </a:p>
          <a:p>
            <a:pPr indent="0" lvl="0" marL="0" rtl="0" algn="l">
              <a:spcBef>
                <a:spcPts val="0"/>
              </a:spcBef>
              <a:spcAft>
                <a:spcPts val="0"/>
              </a:spcAft>
              <a:buNone/>
            </a:pPr>
            <a:r>
              <a:rPr lang="en-US" sz="1600">
                <a:solidFill>
                  <a:srgbClr val="000000"/>
                </a:solidFill>
                <a:latin typeface="Arial"/>
                <a:ea typeface="Arial"/>
                <a:cs typeface="Arial"/>
                <a:sym typeface="Arial"/>
              </a:rPr>
              <a:t>ISS                                                                       95</a:t>
            </a:r>
            <a:endParaRPr sz="1600">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rPr b="1" lang="en-US" sz="2264">
                <a:latin typeface="Arial"/>
                <a:ea typeface="Arial"/>
                <a:cs typeface="Arial"/>
                <a:sym typeface="Arial"/>
              </a:rPr>
              <a:t>Insight:</a:t>
            </a:r>
            <a:endParaRPr b="1" sz="2264">
              <a:latin typeface="Arial"/>
              <a:ea typeface="Arial"/>
              <a:cs typeface="Arial"/>
              <a:sym typeface="Arial"/>
            </a:endParaRPr>
          </a:p>
          <a:p>
            <a:pPr indent="-331311" lvl="0" marL="457200" rtl="0" algn="l">
              <a:lnSpc>
                <a:spcPct val="115000"/>
              </a:lnSpc>
              <a:spcBef>
                <a:spcPts val="1800"/>
              </a:spcBef>
              <a:spcAft>
                <a:spcPts val="0"/>
              </a:spcAft>
              <a:buSzPct val="100000"/>
              <a:buChar char="●"/>
            </a:pPr>
            <a:r>
              <a:rPr lang="en-US" sz="1748">
                <a:latin typeface="Arial"/>
                <a:ea typeface="Arial"/>
                <a:cs typeface="Arial"/>
                <a:sym typeface="Arial"/>
              </a:rPr>
              <a:t>Highest success rates observed for ISS and LEO orbits.</a:t>
            </a:r>
            <a:endParaRPr sz="1748">
              <a:latin typeface="Arial"/>
              <a:ea typeface="Arial"/>
              <a:cs typeface="Arial"/>
              <a:sym typeface="Arial"/>
            </a:endParaRPr>
          </a:p>
          <a:p>
            <a:pPr indent="0" lvl="0" marL="0" rtl="0" algn="l">
              <a:spcBef>
                <a:spcPts val="1800"/>
              </a:spcBef>
              <a:spcAft>
                <a:spcPts val="0"/>
              </a:spcAft>
              <a:buClr>
                <a:schemeClr val="dk1"/>
              </a:buClr>
              <a:buSzPct val="34375"/>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Success Rate by Orbit Type</a:t>
            </a:r>
            <a:endParaRPr/>
          </a:p>
        </p:txBody>
      </p:sp>
      <p:sp>
        <p:nvSpPr>
          <p:cNvPr id="227" name="Google Shape;227;p3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28" name="Google Shape;228;p36" title="Screenshot 2025-04-28 at 18-00-52 SpaceX Predictive Analysis Methodology.png"/>
          <p:cNvPicPr preferRelativeResize="0"/>
          <p:nvPr/>
        </p:nvPicPr>
        <p:blipFill>
          <a:blip r:embed="rId3">
            <a:alphaModFix/>
          </a:blip>
          <a:stretch>
            <a:fillRect/>
          </a:stretch>
        </p:blipFill>
        <p:spPr>
          <a:xfrm>
            <a:off x="457200" y="1714975"/>
            <a:ext cx="8833251" cy="4597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SQL Query - Booster Version Analysis</a:t>
            </a:r>
            <a:endParaRPr/>
          </a:p>
        </p:txBody>
      </p:sp>
      <p:sp>
        <p:nvSpPr>
          <p:cNvPr id="234" name="Google Shape;234;p3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85000" lnSpcReduction="20000"/>
          </a:bodyPr>
          <a:lstStyle/>
          <a:p>
            <a:pPr indent="0" lvl="0" marL="0" rtl="0" algn="l">
              <a:spcBef>
                <a:spcPts val="360"/>
              </a:spcBef>
              <a:spcAft>
                <a:spcPts val="0"/>
              </a:spcAft>
              <a:buClr>
                <a:schemeClr val="dk1"/>
              </a:buClr>
              <a:buSzPct val="50000"/>
              <a:buFont typeface="Arial"/>
              <a:buNone/>
            </a:pPr>
            <a:r>
              <a:rPr lang="en-US" sz="2200">
                <a:solidFill>
                  <a:schemeClr val="accent1"/>
                </a:solidFill>
              </a:rPr>
              <a:t>SELECT</a:t>
            </a:r>
            <a:r>
              <a:rPr lang="en-US" sz="2200"/>
              <a:t> booster_version,</a:t>
            </a:r>
            <a:endParaRPr sz="2200"/>
          </a:p>
          <a:p>
            <a:pPr indent="0" lvl="0" marL="0" rtl="0" algn="l">
              <a:spcBef>
                <a:spcPts val="360"/>
              </a:spcBef>
              <a:spcAft>
                <a:spcPts val="0"/>
              </a:spcAft>
              <a:buClr>
                <a:schemeClr val="dk1"/>
              </a:buClr>
              <a:buSzPct val="50000"/>
              <a:buFont typeface="Arial"/>
              <a:buNone/>
            </a:pPr>
            <a:r>
              <a:rPr lang="en-US" sz="2200"/>
              <a:t>   	</a:t>
            </a:r>
            <a:r>
              <a:rPr lang="en-US" sz="2200">
                <a:solidFill>
                  <a:srgbClr val="DD7E6B"/>
                </a:solidFill>
              </a:rPr>
              <a:t>COUNT</a:t>
            </a:r>
            <a:r>
              <a:rPr lang="en-US" sz="2200"/>
              <a:t>(*) </a:t>
            </a:r>
            <a:r>
              <a:rPr lang="en-US" sz="2200">
                <a:solidFill>
                  <a:schemeClr val="accent1"/>
                </a:solidFill>
              </a:rPr>
              <a:t>AS </a:t>
            </a:r>
            <a:r>
              <a:rPr lang="en-US" sz="2200"/>
              <a:t>launches,</a:t>
            </a:r>
            <a:endParaRPr sz="2200"/>
          </a:p>
          <a:p>
            <a:pPr indent="0" lvl="0" marL="0" rtl="0" algn="l">
              <a:spcBef>
                <a:spcPts val="360"/>
              </a:spcBef>
              <a:spcAft>
                <a:spcPts val="0"/>
              </a:spcAft>
              <a:buClr>
                <a:schemeClr val="dk1"/>
              </a:buClr>
              <a:buSzPct val="50000"/>
              <a:buFont typeface="Arial"/>
              <a:buNone/>
            </a:pPr>
            <a:r>
              <a:rPr lang="en-US" sz="2200"/>
              <a:t>   	</a:t>
            </a:r>
            <a:r>
              <a:rPr lang="en-US" sz="2200">
                <a:solidFill>
                  <a:srgbClr val="DD7E6B"/>
                </a:solidFill>
              </a:rPr>
              <a:t>SUM</a:t>
            </a:r>
            <a:r>
              <a:rPr lang="en-US" sz="2200"/>
              <a:t>(</a:t>
            </a:r>
            <a:r>
              <a:rPr lang="en-US" sz="2200">
                <a:solidFill>
                  <a:schemeClr val="accent1"/>
                </a:solidFill>
              </a:rPr>
              <a:t>CASE WHEN</a:t>
            </a:r>
            <a:r>
              <a:rPr lang="en-US" sz="2200"/>
              <a:t> outcome = 'Success' </a:t>
            </a:r>
            <a:r>
              <a:rPr lang="en-US" sz="2200">
                <a:solidFill>
                  <a:schemeClr val="accent1"/>
                </a:solidFill>
              </a:rPr>
              <a:t>THEN</a:t>
            </a:r>
            <a:r>
              <a:rPr lang="en-US" sz="2200"/>
              <a:t> 1 </a:t>
            </a:r>
            <a:r>
              <a:rPr lang="en-US" sz="2200">
                <a:solidFill>
                  <a:schemeClr val="accent1"/>
                </a:solidFill>
              </a:rPr>
              <a:t>ELSE</a:t>
            </a:r>
            <a:r>
              <a:rPr lang="en-US" sz="2200"/>
              <a:t> 0 </a:t>
            </a:r>
            <a:r>
              <a:rPr lang="en-US" sz="2200">
                <a:solidFill>
                  <a:schemeClr val="accent1"/>
                </a:solidFill>
              </a:rPr>
              <a:t>END</a:t>
            </a:r>
            <a:r>
              <a:rPr lang="en-US" sz="2200"/>
              <a:t>) </a:t>
            </a:r>
            <a:r>
              <a:rPr lang="en-US" sz="2200">
                <a:solidFill>
                  <a:schemeClr val="accent1"/>
                </a:solidFill>
              </a:rPr>
              <a:t>AS</a:t>
            </a:r>
            <a:r>
              <a:rPr lang="en-US" sz="2200"/>
              <a:t> successful_launches</a:t>
            </a:r>
            <a:endParaRPr sz="2200"/>
          </a:p>
          <a:p>
            <a:pPr indent="0" lvl="0" marL="0" rtl="0" algn="l">
              <a:spcBef>
                <a:spcPts val="360"/>
              </a:spcBef>
              <a:spcAft>
                <a:spcPts val="0"/>
              </a:spcAft>
              <a:buClr>
                <a:schemeClr val="dk1"/>
              </a:buClr>
              <a:buSzPct val="50000"/>
              <a:buFont typeface="Arial"/>
              <a:buNone/>
            </a:pPr>
            <a:r>
              <a:rPr lang="en-US" sz="2200">
                <a:solidFill>
                  <a:schemeClr val="accent1"/>
                </a:solidFill>
              </a:rPr>
              <a:t>FROM </a:t>
            </a:r>
            <a:r>
              <a:rPr lang="en-US" sz="2200"/>
              <a:t>spacex_launch_data</a:t>
            </a:r>
            <a:endParaRPr sz="2200"/>
          </a:p>
          <a:p>
            <a:pPr indent="0" lvl="0" marL="0" rtl="0" algn="l">
              <a:spcBef>
                <a:spcPts val="360"/>
              </a:spcBef>
              <a:spcAft>
                <a:spcPts val="0"/>
              </a:spcAft>
              <a:buNone/>
            </a:pPr>
            <a:r>
              <a:rPr lang="en-US" sz="2200">
                <a:solidFill>
                  <a:schemeClr val="accent1"/>
                </a:solidFill>
              </a:rPr>
              <a:t>GROUP </a:t>
            </a:r>
            <a:r>
              <a:rPr lang="en-US" sz="2200"/>
              <a:t>BY booster_version;</a:t>
            </a:r>
            <a:endParaRPr sz="2200"/>
          </a:p>
          <a:p>
            <a:pPr indent="0" lvl="0" marL="0" rtl="0" algn="l">
              <a:spcBef>
                <a:spcPts val="360"/>
              </a:spcBef>
              <a:spcAft>
                <a:spcPts val="0"/>
              </a:spcAft>
              <a:buClr>
                <a:schemeClr val="dk1"/>
              </a:buClr>
              <a:buSzPct val="50000"/>
              <a:buFont typeface="Arial"/>
              <a:buNone/>
            </a:pPr>
            <a:r>
              <a:t/>
            </a:r>
            <a:endParaRPr sz="2200"/>
          </a:p>
          <a:p>
            <a:pPr indent="0" lvl="0" marL="0" rtl="0" algn="l">
              <a:lnSpc>
                <a:spcPct val="115000"/>
              </a:lnSpc>
              <a:spcBef>
                <a:spcPts val="0"/>
              </a:spcBef>
              <a:spcAft>
                <a:spcPts val="0"/>
              </a:spcAft>
              <a:buNone/>
            </a:pPr>
            <a:r>
              <a:rPr b="1" lang="en-US" sz="1600">
                <a:solidFill>
                  <a:srgbClr val="000000"/>
                </a:solidFill>
                <a:latin typeface="Arial"/>
                <a:ea typeface="Arial"/>
                <a:cs typeface="Arial"/>
                <a:sym typeface="Arial"/>
              </a:rPr>
              <a:t>Booster Version             Launches                          Successful Launches</a:t>
            </a:r>
            <a:endParaRPr b="1" sz="1600">
              <a:solidFill>
                <a:srgbClr val="000000"/>
              </a:solidFill>
              <a:latin typeface="Arial"/>
              <a:ea typeface="Arial"/>
              <a:cs typeface="Arial"/>
              <a:sym typeface="Arial"/>
            </a:endParaRPr>
          </a:p>
          <a:p>
            <a:pPr indent="0" lvl="0" marL="0" rtl="0" algn="l">
              <a:spcBef>
                <a:spcPts val="0"/>
              </a:spcBef>
              <a:spcAft>
                <a:spcPts val="0"/>
              </a:spcAft>
              <a:buNone/>
            </a:pPr>
            <a:r>
              <a:rPr lang="en-US" sz="1400">
                <a:solidFill>
                  <a:srgbClr val="000000"/>
                </a:solidFill>
                <a:latin typeface="Arial"/>
                <a:ea typeface="Arial"/>
                <a:cs typeface="Arial"/>
                <a:sym typeface="Arial"/>
              </a:rPr>
              <a:t>B4                                                 20                                                  18</a:t>
            </a:r>
            <a:endParaRPr sz="1400">
              <a:solidFill>
                <a:srgbClr val="000000"/>
              </a:solidFill>
              <a:latin typeface="Arial"/>
              <a:ea typeface="Arial"/>
              <a:cs typeface="Arial"/>
              <a:sym typeface="Arial"/>
            </a:endParaRPr>
          </a:p>
          <a:p>
            <a:pPr indent="0" lvl="0" marL="0" rtl="0" algn="l">
              <a:spcBef>
                <a:spcPts val="0"/>
              </a:spcBef>
              <a:spcAft>
                <a:spcPts val="0"/>
              </a:spcAft>
              <a:buNone/>
            </a:pPr>
            <a:r>
              <a:rPr lang="en-US" sz="1400">
                <a:solidFill>
                  <a:srgbClr val="000000"/>
                </a:solidFill>
                <a:latin typeface="Arial"/>
                <a:ea typeface="Arial"/>
                <a:cs typeface="Arial"/>
                <a:sym typeface="Arial"/>
              </a:rPr>
              <a:t>B5                                                 35                                                   34</a:t>
            </a:r>
            <a:endParaRPr sz="1400">
              <a:solidFill>
                <a:srgbClr val="000000"/>
              </a:solidFill>
              <a:latin typeface="Arial"/>
              <a:ea typeface="Arial"/>
              <a:cs typeface="Arial"/>
              <a:sym typeface="Arial"/>
            </a:endParaRPr>
          </a:p>
          <a:p>
            <a:pPr indent="0" lvl="0" marL="0" rtl="0" algn="l">
              <a:lnSpc>
                <a:spcPct val="115000"/>
              </a:lnSpc>
              <a:spcBef>
                <a:spcPts val="1800"/>
              </a:spcBef>
              <a:spcAft>
                <a:spcPts val="0"/>
              </a:spcAft>
              <a:buNone/>
            </a:pPr>
            <a:r>
              <a:rPr b="1" lang="en-US" sz="2092">
                <a:latin typeface="Arial"/>
                <a:ea typeface="Arial"/>
                <a:cs typeface="Arial"/>
                <a:sym typeface="Arial"/>
              </a:rPr>
              <a:t>Insight:</a:t>
            </a:r>
            <a:endParaRPr b="1" sz="2092">
              <a:latin typeface="Arial"/>
              <a:ea typeface="Arial"/>
              <a:cs typeface="Arial"/>
              <a:sym typeface="Arial"/>
            </a:endParaRPr>
          </a:p>
          <a:p>
            <a:pPr indent="-341518" lvl="0" marL="457200" rtl="0" algn="l">
              <a:lnSpc>
                <a:spcPct val="115000"/>
              </a:lnSpc>
              <a:spcBef>
                <a:spcPts val="1800"/>
              </a:spcBef>
              <a:spcAft>
                <a:spcPts val="0"/>
              </a:spcAft>
              <a:buSzPct val="100000"/>
              <a:buChar char="●"/>
            </a:pPr>
            <a:r>
              <a:rPr lang="en-US" sz="2092">
                <a:latin typeface="Arial"/>
                <a:ea typeface="Arial"/>
                <a:cs typeface="Arial"/>
                <a:sym typeface="Arial"/>
              </a:rPr>
              <a:t>Block 5 boosters (B5) have near-perfect success rates.</a:t>
            </a:r>
            <a:endParaRPr sz="2092">
              <a:latin typeface="Arial"/>
              <a:ea typeface="Arial"/>
              <a:cs typeface="Arial"/>
              <a:sym typeface="Arial"/>
            </a:endParaRPr>
          </a:p>
          <a:p>
            <a:pPr indent="0" lvl="0" marL="0" rtl="0" algn="l">
              <a:spcBef>
                <a:spcPts val="1800"/>
              </a:spcBef>
              <a:spcAft>
                <a:spcPts val="0"/>
              </a:spcAft>
              <a:buClr>
                <a:schemeClr val="dk1"/>
              </a:buClr>
              <a:buSzPct val="34375"/>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Booster Version vs Launch Outcome</a:t>
            </a:r>
            <a:endParaRPr/>
          </a:p>
        </p:txBody>
      </p:sp>
      <p:sp>
        <p:nvSpPr>
          <p:cNvPr id="240" name="Google Shape;240;p38"/>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41" name="Google Shape;241;p38" title="Screenshot 2025-04-28 at 18-03-15 SpaceX Predictive Analysis Methodology.png"/>
          <p:cNvPicPr preferRelativeResize="0"/>
          <p:nvPr/>
        </p:nvPicPr>
        <p:blipFill>
          <a:blip r:embed="rId3">
            <a:alphaModFix/>
          </a:blip>
          <a:stretch>
            <a:fillRect/>
          </a:stretch>
        </p:blipFill>
        <p:spPr>
          <a:xfrm>
            <a:off x="0" y="1559725"/>
            <a:ext cx="8686800" cy="41124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Key EDA using SQL Insights</a:t>
            </a:r>
            <a:endParaRPr/>
          </a:p>
        </p:txBody>
      </p:sp>
      <p:sp>
        <p:nvSpPr>
          <p:cNvPr id="247" name="Google Shape;247;p39"/>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2000">
                <a:latin typeface="Arial"/>
                <a:ea typeface="Arial"/>
                <a:cs typeface="Arial"/>
                <a:sym typeface="Arial"/>
              </a:rPr>
              <a:t>Summary:</a:t>
            </a:r>
            <a:endParaRPr b="1" sz="2000">
              <a:latin typeface="Arial"/>
              <a:ea typeface="Arial"/>
              <a:cs typeface="Arial"/>
              <a:sym typeface="Arial"/>
            </a:endParaRPr>
          </a:p>
          <a:p>
            <a:pPr indent="-355600" lvl="0" marL="457200" rtl="0" algn="l">
              <a:lnSpc>
                <a:spcPct val="115000"/>
              </a:lnSpc>
              <a:spcBef>
                <a:spcPts val="1800"/>
              </a:spcBef>
              <a:spcAft>
                <a:spcPts val="0"/>
              </a:spcAft>
              <a:buSzPts val="2000"/>
              <a:buChar char="●"/>
            </a:pPr>
            <a:r>
              <a:rPr lang="en-US" sz="2000">
                <a:latin typeface="Arial"/>
                <a:ea typeface="Arial"/>
                <a:cs typeface="Arial"/>
                <a:sym typeface="Arial"/>
              </a:rPr>
              <a:t>85% launches are successful.</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Most frequent launch site: CCAFS SLC-40.</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Light and medium payloads dominate.</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ISS and LEO orbits have highest success rates.</a:t>
            </a:r>
            <a:br>
              <a:rPr lang="en-US" sz="2000">
                <a:latin typeface="Arial"/>
                <a:ea typeface="Arial"/>
                <a:cs typeface="Arial"/>
                <a:sym typeface="Arial"/>
              </a:rPr>
            </a:b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Block 5 boosters show outstanding reliability.</a:t>
            </a:r>
            <a:endParaRPr sz="20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Project Overview</a:t>
            </a:r>
            <a:endParaRPr/>
          </a:p>
        </p:txBody>
      </p:sp>
      <p:sp>
        <p:nvSpPr>
          <p:cNvPr id="253" name="Google Shape;253;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sz="3200">
              <a:solidFill>
                <a:schemeClr val="dk1"/>
              </a:solidFill>
              <a:latin typeface="Calibri"/>
              <a:ea typeface="Calibri"/>
              <a:cs typeface="Calibri"/>
              <a:sym typeface="Calibri"/>
            </a:endParaRPr>
          </a:p>
          <a:p>
            <a:pPr indent="-342900" lvl="0" marL="342900" rtl="0" algn="l">
              <a:spcBef>
                <a:spcPts val="400"/>
              </a:spcBef>
              <a:spcAft>
                <a:spcPts val="0"/>
              </a:spcAft>
              <a:buClr>
                <a:schemeClr val="dk1"/>
              </a:buClr>
              <a:buSzPts val="2000"/>
              <a:buChar char="•"/>
            </a:pPr>
            <a:r>
              <a:rPr lang="en-US" sz="2000"/>
              <a:t>Goal: Predict Falcon 9 first stage landing success</a:t>
            </a:r>
            <a:endParaRPr/>
          </a:p>
          <a:p>
            <a:pPr indent="-342900" lvl="0" marL="342900" rtl="0" algn="l">
              <a:spcBef>
                <a:spcPts val="1400"/>
              </a:spcBef>
              <a:spcAft>
                <a:spcPts val="0"/>
              </a:spcAft>
              <a:buClr>
                <a:schemeClr val="dk1"/>
              </a:buClr>
              <a:buSzPts val="2000"/>
              <a:buChar char="•"/>
            </a:pPr>
            <a:r>
              <a:rPr lang="en-US" sz="2000"/>
              <a:t>Savings: 62M vs 165M per launch</a:t>
            </a:r>
            <a:endParaRPr/>
          </a:p>
          <a:p>
            <a:pPr indent="-342900" lvl="0" marL="342900" rtl="0" algn="l">
              <a:spcBef>
                <a:spcPts val="1400"/>
              </a:spcBef>
              <a:spcAft>
                <a:spcPts val="0"/>
              </a:spcAft>
              <a:buClr>
                <a:schemeClr val="dk1"/>
              </a:buClr>
              <a:buSzPts val="2000"/>
              <a:buChar char="•"/>
            </a:pPr>
            <a:r>
              <a:rPr lang="en-US" sz="2000"/>
              <a:t>Method: Machine Learning prediction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Interactive Map Results with Folium</a:t>
            </a:r>
            <a:endParaRPr/>
          </a:p>
        </p:txBody>
      </p:sp>
      <p:sp>
        <p:nvSpPr>
          <p:cNvPr id="259" name="Google Shape;259;p4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2100">
                <a:latin typeface="Arial"/>
                <a:ea typeface="Arial"/>
                <a:cs typeface="Arial"/>
                <a:sym typeface="Arial"/>
              </a:rPr>
              <a:t>Objective</a:t>
            </a:r>
            <a:endParaRPr b="1" sz="21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900">
                <a:latin typeface="Arial"/>
                <a:ea typeface="Arial"/>
                <a:cs typeface="Arial"/>
                <a:sym typeface="Arial"/>
              </a:rPr>
              <a:t>Why an Interactive Map?</a:t>
            </a:r>
            <a:endParaRPr b="1" sz="1900">
              <a:latin typeface="Arial"/>
              <a:ea typeface="Arial"/>
              <a:cs typeface="Arial"/>
              <a:sym typeface="Arial"/>
            </a:endParaRPr>
          </a:p>
          <a:p>
            <a:pPr indent="-349250" lvl="0" marL="457200" rtl="0" algn="l">
              <a:lnSpc>
                <a:spcPct val="115000"/>
              </a:lnSpc>
              <a:spcBef>
                <a:spcPts val="1800"/>
              </a:spcBef>
              <a:spcAft>
                <a:spcPts val="0"/>
              </a:spcAft>
              <a:buSzPts val="1900"/>
              <a:buChar char="●"/>
            </a:pPr>
            <a:r>
              <a:rPr lang="en-US" sz="1900">
                <a:latin typeface="Arial"/>
                <a:ea typeface="Arial"/>
                <a:cs typeface="Arial"/>
                <a:sym typeface="Arial"/>
              </a:rPr>
              <a:t>Visualize SpaceX launch sites geographically.</a:t>
            </a:r>
            <a:br>
              <a:rPr lang="en-US"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SzPts val="1900"/>
              <a:buChar char="●"/>
            </a:pPr>
            <a:r>
              <a:rPr lang="en-US" sz="1900">
                <a:latin typeface="Arial"/>
                <a:ea typeface="Arial"/>
                <a:cs typeface="Arial"/>
                <a:sym typeface="Arial"/>
              </a:rPr>
              <a:t>Analyze site proximity to key locations (cities, coastlines).</a:t>
            </a:r>
            <a:br>
              <a:rPr lang="en-US"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SzPts val="1900"/>
              <a:buChar char="●"/>
            </a:pPr>
            <a:r>
              <a:rPr lang="en-US" sz="1900">
                <a:latin typeface="Arial"/>
                <a:ea typeface="Arial"/>
                <a:cs typeface="Arial"/>
                <a:sym typeface="Arial"/>
              </a:rPr>
              <a:t>Support better launch planning with geospatial insights.</a:t>
            </a:r>
            <a:endParaRPr sz="19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Data Used for Mapping</a:t>
            </a:r>
            <a:endParaRPr/>
          </a:p>
        </p:txBody>
      </p:sp>
      <p:sp>
        <p:nvSpPr>
          <p:cNvPr id="265" name="Google Shape;265;p42"/>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800">
                <a:latin typeface="Arial"/>
                <a:ea typeface="Arial"/>
                <a:cs typeface="Arial"/>
                <a:sym typeface="Arial"/>
              </a:rPr>
              <a:t>Dataset Columns:</a:t>
            </a:r>
            <a:endParaRPr b="1" sz="1800">
              <a:latin typeface="Arial"/>
              <a:ea typeface="Arial"/>
              <a:cs typeface="Arial"/>
              <a:sym typeface="Arial"/>
            </a:endParaRPr>
          </a:p>
          <a:p>
            <a:pPr indent="-342900" lvl="0" marL="457200" rtl="0" algn="l">
              <a:lnSpc>
                <a:spcPct val="115000"/>
              </a:lnSpc>
              <a:spcBef>
                <a:spcPts val="1800"/>
              </a:spcBef>
              <a:spcAft>
                <a:spcPts val="0"/>
              </a:spcAft>
              <a:buSzPts val="1800"/>
              <a:buChar char="●"/>
            </a:pPr>
            <a:r>
              <a:rPr lang="en-US" sz="1800">
                <a:latin typeface="Arial"/>
                <a:ea typeface="Arial"/>
                <a:cs typeface="Arial"/>
                <a:sym typeface="Arial"/>
              </a:rPr>
              <a:t>Launch Site Name</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Latitude</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Longitude</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Launch Outcome (Success/Failure)</a:t>
            </a:r>
            <a:br>
              <a:rPr lang="en-US" sz="1800">
                <a:latin typeface="Arial"/>
                <a:ea typeface="Arial"/>
                <a:cs typeface="Arial"/>
                <a:sym typeface="Arial"/>
              </a:rPr>
            </a:br>
            <a:endParaRPr sz="18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800">
                <a:latin typeface="Arial"/>
                <a:ea typeface="Arial"/>
                <a:cs typeface="Arial"/>
                <a:sym typeface="Arial"/>
              </a:rPr>
              <a:t>Data Source:</a:t>
            </a:r>
            <a:endParaRPr b="1" sz="1800">
              <a:latin typeface="Arial"/>
              <a:ea typeface="Arial"/>
              <a:cs typeface="Arial"/>
              <a:sym typeface="Arial"/>
            </a:endParaRPr>
          </a:p>
          <a:p>
            <a:pPr indent="-342900" lvl="0" marL="457200" rtl="0" algn="l">
              <a:lnSpc>
                <a:spcPct val="115000"/>
              </a:lnSpc>
              <a:spcBef>
                <a:spcPts val="1800"/>
              </a:spcBef>
              <a:spcAft>
                <a:spcPts val="0"/>
              </a:spcAft>
              <a:buSzPts val="1800"/>
              <a:buChar char="●"/>
            </a:pPr>
            <a:r>
              <a:rPr lang="en-US" sz="1800">
                <a:latin typeface="Arial"/>
                <a:ea typeface="Arial"/>
                <a:cs typeface="Arial"/>
                <a:sym typeface="Arial"/>
              </a:rPr>
              <a:t>SpaceX official launch records</a:t>
            </a:r>
            <a:endParaRPr sz="18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Creating the Map with Folium</a:t>
            </a:r>
            <a:endParaRPr/>
          </a:p>
        </p:txBody>
      </p:sp>
      <p:sp>
        <p:nvSpPr>
          <p:cNvPr id="271" name="Google Shape;271;p43"/>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800">
                <a:latin typeface="Arial"/>
                <a:ea typeface="Arial"/>
                <a:cs typeface="Arial"/>
                <a:sym typeface="Arial"/>
              </a:rPr>
              <a:t>Key Steps in Folium:</a:t>
            </a:r>
            <a:endParaRPr b="1" sz="1800">
              <a:latin typeface="Arial"/>
              <a:ea typeface="Arial"/>
              <a:cs typeface="Arial"/>
              <a:sym typeface="Arial"/>
            </a:endParaRPr>
          </a:p>
          <a:p>
            <a:pPr indent="-342900" lvl="0" marL="457200" rtl="0" algn="l">
              <a:lnSpc>
                <a:spcPct val="115000"/>
              </a:lnSpc>
              <a:spcBef>
                <a:spcPts val="1800"/>
              </a:spcBef>
              <a:spcAft>
                <a:spcPts val="0"/>
              </a:spcAft>
              <a:buSzPts val="1800"/>
              <a:buChar char="●"/>
            </a:pPr>
            <a:r>
              <a:rPr lang="en-US" sz="1800">
                <a:latin typeface="Arial"/>
                <a:ea typeface="Arial"/>
                <a:cs typeface="Arial"/>
                <a:sym typeface="Arial"/>
              </a:rPr>
              <a:t>Initialized map centered around the USA (</a:t>
            </a:r>
            <a:r>
              <a:rPr lang="en-US" sz="1800">
                <a:solidFill>
                  <a:srgbClr val="188038"/>
                </a:solidFill>
                <a:latin typeface="Roboto Mono"/>
                <a:ea typeface="Roboto Mono"/>
                <a:cs typeface="Roboto Mono"/>
                <a:sym typeface="Roboto Mono"/>
              </a:rPr>
              <a:t>folium.Map</a:t>
            </a:r>
            <a:r>
              <a:rPr lang="en-US" sz="1800">
                <a:latin typeface="Arial"/>
                <a:ea typeface="Arial"/>
                <a:cs typeface="Arial"/>
                <a:sym typeface="Arial"/>
              </a:rPr>
              <a:t>)</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Added </a:t>
            </a:r>
            <a:r>
              <a:rPr b="1" lang="en-US" sz="1800">
                <a:latin typeface="Arial"/>
                <a:ea typeface="Arial"/>
                <a:cs typeface="Arial"/>
                <a:sym typeface="Arial"/>
              </a:rPr>
              <a:t>Marker Clusters</a:t>
            </a:r>
            <a:r>
              <a:rPr lang="en-US" sz="1800">
                <a:latin typeface="Arial"/>
                <a:ea typeface="Arial"/>
                <a:cs typeface="Arial"/>
                <a:sym typeface="Arial"/>
              </a:rPr>
              <a:t> for launch sites (</a:t>
            </a:r>
            <a:r>
              <a:rPr lang="en-US" sz="1800">
                <a:solidFill>
                  <a:srgbClr val="188038"/>
                </a:solidFill>
                <a:latin typeface="Roboto Mono"/>
                <a:ea typeface="Roboto Mono"/>
                <a:cs typeface="Roboto Mono"/>
                <a:sym typeface="Roboto Mono"/>
              </a:rPr>
              <a:t>folium.plugins.MarkerCluster</a:t>
            </a:r>
            <a:r>
              <a:rPr lang="en-US" sz="1800">
                <a:latin typeface="Arial"/>
                <a:ea typeface="Arial"/>
                <a:cs typeface="Arial"/>
                <a:sym typeface="Arial"/>
              </a:rPr>
              <a:t>)</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Color-coded markers based on launch outcome:</a:t>
            </a:r>
            <a:br>
              <a:rPr lang="en-US" sz="1800">
                <a:latin typeface="Arial"/>
                <a:ea typeface="Arial"/>
                <a:cs typeface="Arial"/>
                <a:sym typeface="Arial"/>
              </a:rPr>
            </a:br>
            <a:endParaRPr sz="1800">
              <a:latin typeface="Arial"/>
              <a:ea typeface="Arial"/>
              <a:cs typeface="Arial"/>
              <a:sym typeface="Arial"/>
            </a:endParaRPr>
          </a:p>
          <a:p>
            <a:pPr indent="-342900" lvl="1" marL="914400" rtl="0" algn="l">
              <a:lnSpc>
                <a:spcPct val="115000"/>
              </a:lnSpc>
              <a:spcBef>
                <a:spcPts val="0"/>
              </a:spcBef>
              <a:spcAft>
                <a:spcPts val="0"/>
              </a:spcAft>
              <a:buSzPts val="1800"/>
              <a:buChar char="○"/>
            </a:pPr>
            <a:r>
              <a:rPr lang="en-US" sz="1800">
                <a:latin typeface="Arial"/>
                <a:ea typeface="Arial"/>
                <a:cs typeface="Arial"/>
                <a:sym typeface="Arial"/>
              </a:rPr>
              <a:t>🟢 Green for Success</a:t>
            </a:r>
            <a:br>
              <a:rPr lang="en-US" sz="1800">
                <a:latin typeface="Arial"/>
                <a:ea typeface="Arial"/>
                <a:cs typeface="Arial"/>
                <a:sym typeface="Arial"/>
              </a:rPr>
            </a:br>
            <a:endParaRPr sz="1800">
              <a:latin typeface="Arial"/>
              <a:ea typeface="Arial"/>
              <a:cs typeface="Arial"/>
              <a:sym typeface="Arial"/>
            </a:endParaRPr>
          </a:p>
          <a:p>
            <a:pPr indent="-342900" lvl="1" marL="914400" rtl="0" algn="l">
              <a:lnSpc>
                <a:spcPct val="115000"/>
              </a:lnSpc>
              <a:spcBef>
                <a:spcPts val="0"/>
              </a:spcBef>
              <a:spcAft>
                <a:spcPts val="0"/>
              </a:spcAft>
              <a:buSzPts val="1800"/>
              <a:buChar char="○"/>
            </a:pPr>
            <a:r>
              <a:rPr lang="en-US" sz="1800">
                <a:latin typeface="Arial"/>
                <a:ea typeface="Arial"/>
                <a:cs typeface="Arial"/>
                <a:sym typeface="Arial"/>
              </a:rPr>
              <a:t>🔴 Red for Failure</a:t>
            </a:r>
            <a:endParaRPr sz="1800">
              <a:latin typeface="Arial"/>
              <a:ea typeface="Arial"/>
              <a:cs typeface="Arial"/>
              <a:sym typeface="Arial"/>
            </a:endParaRPr>
          </a:p>
          <a:p>
            <a:pPr indent="0" lvl="0" marL="0" rtl="0" algn="l">
              <a:spcBef>
                <a:spcPts val="1800"/>
              </a:spcBef>
              <a:spcAft>
                <a:spcPts val="0"/>
              </a:spcAft>
              <a:buNone/>
            </a:pPr>
            <a:r>
              <a:t/>
            </a:r>
            <a:endParaRPr sz="1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ph type="title"/>
          </p:nvPr>
        </p:nvSpPr>
        <p:spPr>
          <a:xfrm>
            <a:off x="342900" y="253188"/>
            <a:ext cx="8229600" cy="1143000"/>
          </a:xfrm>
          <a:prstGeom prst="rect">
            <a:avLst/>
          </a:prstGeom>
        </p:spPr>
        <p:txBody>
          <a:bodyPr anchorCtr="0" anchor="ctr" bIns="45700" lIns="91425" spcFirstLastPara="1" rIns="91425" wrap="square" tIns="45700">
            <a:normAutofit fontScale="90000"/>
          </a:bodyPr>
          <a:lstStyle/>
          <a:p>
            <a:pPr indent="457200" lvl="0" marL="914400" rtl="0" algn="l">
              <a:spcBef>
                <a:spcPts val="0"/>
              </a:spcBef>
              <a:spcAft>
                <a:spcPts val="0"/>
              </a:spcAft>
              <a:buNone/>
            </a:pPr>
            <a:r>
              <a:rPr lang="en-US"/>
              <a:t>Interactive Map Screenshot</a:t>
            </a:r>
            <a:endParaRPr/>
          </a:p>
          <a:p>
            <a:pPr indent="457200" lvl="0" marL="914400" rtl="0" algn="l">
              <a:spcBef>
                <a:spcPts val="0"/>
              </a:spcBef>
              <a:spcAft>
                <a:spcPts val="0"/>
              </a:spcAft>
              <a:buNone/>
            </a:pPr>
            <a:r>
              <a:rPr lang="en-US"/>
              <a:t>                  (MainView)</a:t>
            </a:r>
            <a:endParaRPr/>
          </a:p>
        </p:txBody>
      </p:sp>
      <p:sp>
        <p:nvSpPr>
          <p:cNvPr id="277" name="Google Shape;277;p4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78" name="Google Shape;278;p44" title="Screenshot 2025-04-28 at 18-34-37 Untitled116.png"/>
          <p:cNvPicPr preferRelativeResize="0"/>
          <p:nvPr/>
        </p:nvPicPr>
        <p:blipFill>
          <a:blip r:embed="rId3">
            <a:alphaModFix/>
          </a:blip>
          <a:stretch>
            <a:fillRect/>
          </a:stretch>
        </p:blipFill>
        <p:spPr>
          <a:xfrm>
            <a:off x="64300" y="1681168"/>
            <a:ext cx="9144001" cy="461006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Code for </a:t>
            </a:r>
            <a:endParaRPr/>
          </a:p>
          <a:p>
            <a:pPr indent="0" lvl="0" marL="0" rtl="0" algn="ctr">
              <a:spcBef>
                <a:spcPts val="0"/>
              </a:spcBef>
              <a:spcAft>
                <a:spcPts val="0"/>
              </a:spcAft>
              <a:buNone/>
            </a:pPr>
            <a:r>
              <a:rPr lang="en-US"/>
              <a:t>Interactive Map Screenshot</a:t>
            </a:r>
            <a:endParaRPr/>
          </a:p>
        </p:txBody>
      </p:sp>
      <p:sp>
        <p:nvSpPr>
          <p:cNvPr id="284" name="Google Shape;284;p45"/>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25000" lnSpcReduction="10000"/>
          </a:bodyPr>
          <a:lstStyle/>
          <a:p>
            <a:pPr indent="0" lvl="0" marL="0" rtl="0" algn="l">
              <a:spcBef>
                <a:spcPts val="360"/>
              </a:spcBef>
              <a:spcAft>
                <a:spcPts val="0"/>
              </a:spcAft>
              <a:buClr>
                <a:schemeClr val="dk1"/>
              </a:buClr>
              <a:buSzPct val="34375"/>
              <a:buFont typeface="Arial"/>
              <a:buNone/>
            </a:pPr>
            <a:r>
              <a:rPr lang="en-US"/>
              <a:t># Re-initialize the map centered at NASA JSC with a wider zoom</a:t>
            </a:r>
            <a:endParaRPr/>
          </a:p>
          <a:p>
            <a:pPr indent="0" lvl="0" marL="0" rtl="0" algn="l">
              <a:spcBef>
                <a:spcPts val="360"/>
              </a:spcBef>
              <a:spcAft>
                <a:spcPts val="0"/>
              </a:spcAft>
              <a:buClr>
                <a:schemeClr val="dk1"/>
              </a:buClr>
              <a:buSzPct val="34375"/>
              <a:buFont typeface="Arial"/>
              <a:buNone/>
            </a:pPr>
            <a:r>
              <a:rPr lang="en-US"/>
              <a:t>site_map = folium.Map(location=nasa_coordinate, zoom_start=5)</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Loop through each launch site and add a circle and a label marker</a:t>
            </a:r>
            <a:endParaRPr/>
          </a:p>
          <a:p>
            <a:pPr indent="0" lvl="0" marL="0" rtl="0" algn="l">
              <a:spcBef>
                <a:spcPts val="360"/>
              </a:spcBef>
              <a:spcAft>
                <a:spcPts val="0"/>
              </a:spcAft>
              <a:buClr>
                <a:schemeClr val="dk1"/>
              </a:buClr>
              <a:buSzPct val="34375"/>
              <a:buFont typeface="Arial"/>
              <a:buNone/>
            </a:pPr>
            <a:r>
              <a:rPr lang="en-US"/>
              <a:t>for index, row in launch_sites_df.iterrows():</a:t>
            </a:r>
            <a:endParaRPr/>
          </a:p>
          <a:p>
            <a:pPr indent="0" lvl="0" marL="0" rtl="0" algn="l">
              <a:spcBef>
                <a:spcPts val="360"/>
              </a:spcBef>
              <a:spcAft>
                <a:spcPts val="0"/>
              </a:spcAft>
              <a:buClr>
                <a:schemeClr val="dk1"/>
              </a:buClr>
              <a:buSzPct val="34375"/>
              <a:buFont typeface="Arial"/>
              <a:buNone/>
            </a:pPr>
            <a:r>
              <a:rPr lang="en-US"/>
              <a:t>	launch_site = row['Launch Site']</a:t>
            </a:r>
            <a:endParaRPr/>
          </a:p>
          <a:p>
            <a:pPr indent="0" lvl="0" marL="0" rtl="0" algn="l">
              <a:spcBef>
                <a:spcPts val="360"/>
              </a:spcBef>
              <a:spcAft>
                <a:spcPts val="0"/>
              </a:spcAft>
              <a:buClr>
                <a:schemeClr val="dk1"/>
              </a:buClr>
              <a:buSzPct val="34375"/>
              <a:buFont typeface="Arial"/>
              <a:buNone/>
            </a:pPr>
            <a:r>
              <a:rPr lang="en-US"/>
              <a:t>	coordinate = [row['Lat'], row['Long']]</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rPr lang="en-US"/>
              <a:t>	# Add circle to map</a:t>
            </a:r>
            <a:endParaRPr/>
          </a:p>
          <a:p>
            <a:pPr indent="0" lvl="0" marL="0" rtl="0" algn="l">
              <a:spcBef>
                <a:spcPts val="360"/>
              </a:spcBef>
              <a:spcAft>
                <a:spcPts val="0"/>
              </a:spcAft>
              <a:buClr>
                <a:schemeClr val="dk1"/>
              </a:buClr>
              <a:buSzPct val="34375"/>
              <a:buFont typeface="Arial"/>
              <a:buNone/>
            </a:pPr>
            <a:r>
              <a:rPr lang="en-US"/>
              <a:t>	folium.Circle(</a:t>
            </a:r>
            <a:endParaRPr/>
          </a:p>
          <a:p>
            <a:pPr indent="0" lvl="0" marL="0" rtl="0" algn="l">
              <a:spcBef>
                <a:spcPts val="360"/>
              </a:spcBef>
              <a:spcAft>
                <a:spcPts val="0"/>
              </a:spcAft>
              <a:buClr>
                <a:schemeClr val="dk1"/>
              </a:buClr>
              <a:buSzPct val="34375"/>
              <a:buFont typeface="Arial"/>
              <a:buNone/>
            </a:pPr>
            <a:r>
              <a:rPr lang="en-US"/>
              <a:t>    	location=coordinate,</a:t>
            </a:r>
            <a:endParaRPr/>
          </a:p>
          <a:p>
            <a:pPr indent="0" lvl="0" marL="0" rtl="0" algn="l">
              <a:spcBef>
                <a:spcPts val="360"/>
              </a:spcBef>
              <a:spcAft>
                <a:spcPts val="0"/>
              </a:spcAft>
              <a:buClr>
                <a:schemeClr val="dk1"/>
              </a:buClr>
              <a:buSzPct val="34375"/>
              <a:buFont typeface="Arial"/>
              <a:buNone/>
            </a:pPr>
            <a:r>
              <a:rPr lang="en-US"/>
              <a:t>    	radius=1000,</a:t>
            </a:r>
            <a:endParaRPr/>
          </a:p>
          <a:p>
            <a:pPr indent="0" lvl="0" marL="0" rtl="0" algn="l">
              <a:spcBef>
                <a:spcPts val="360"/>
              </a:spcBef>
              <a:spcAft>
                <a:spcPts val="0"/>
              </a:spcAft>
              <a:buClr>
                <a:schemeClr val="dk1"/>
              </a:buClr>
              <a:buSzPct val="34375"/>
              <a:buFont typeface="Arial"/>
              <a:buNone/>
            </a:pPr>
            <a:r>
              <a:rPr lang="en-US"/>
              <a:t>    	color='#000000',</a:t>
            </a:r>
            <a:endParaRPr/>
          </a:p>
          <a:p>
            <a:pPr indent="0" lvl="0" marL="0" rtl="0" algn="l">
              <a:spcBef>
                <a:spcPts val="360"/>
              </a:spcBef>
              <a:spcAft>
                <a:spcPts val="0"/>
              </a:spcAft>
              <a:buClr>
                <a:schemeClr val="dk1"/>
              </a:buClr>
              <a:buSzPct val="34375"/>
              <a:buFont typeface="Arial"/>
              <a:buNone/>
            </a:pPr>
            <a:r>
              <a:rPr lang="en-US"/>
              <a:t>    	fill=True</a:t>
            </a:r>
            <a:endParaRPr/>
          </a:p>
          <a:p>
            <a:pPr indent="0" lvl="0" marL="0" rtl="0" algn="l">
              <a:spcBef>
                <a:spcPts val="360"/>
              </a:spcBef>
              <a:spcAft>
                <a:spcPts val="0"/>
              </a:spcAft>
              <a:buClr>
                <a:schemeClr val="dk1"/>
              </a:buClr>
              <a:buSzPct val="34375"/>
              <a:buFont typeface="Arial"/>
              <a:buNone/>
            </a:pPr>
            <a:r>
              <a:rPr lang="en-US"/>
              <a:t>	).add_child(folium.Popup(launch_site)).add_to(site_map)</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rPr lang="en-US"/>
              <a:t>	# Add marker with text label</a:t>
            </a:r>
            <a:endParaRPr/>
          </a:p>
          <a:p>
            <a:pPr indent="0" lvl="0" marL="0" rtl="0" algn="l">
              <a:spcBef>
                <a:spcPts val="360"/>
              </a:spcBef>
              <a:spcAft>
                <a:spcPts val="0"/>
              </a:spcAft>
              <a:buClr>
                <a:schemeClr val="dk1"/>
              </a:buClr>
              <a:buSzPct val="34375"/>
              <a:buFont typeface="Arial"/>
              <a:buNone/>
            </a:pPr>
            <a:r>
              <a:rPr lang="en-US"/>
              <a:t>	folium.map.Marker(</a:t>
            </a:r>
            <a:endParaRPr/>
          </a:p>
          <a:p>
            <a:pPr indent="0" lvl="0" marL="0" rtl="0" algn="l">
              <a:spcBef>
                <a:spcPts val="360"/>
              </a:spcBef>
              <a:spcAft>
                <a:spcPts val="0"/>
              </a:spcAft>
              <a:buClr>
                <a:schemeClr val="dk1"/>
              </a:buClr>
              <a:buSzPct val="34375"/>
              <a:buFont typeface="Arial"/>
              <a:buNone/>
            </a:pPr>
            <a:r>
              <a:rPr lang="en-US"/>
              <a:t>    	location=coordinate,</a:t>
            </a:r>
            <a:endParaRPr/>
          </a:p>
          <a:p>
            <a:pPr indent="0" lvl="0" marL="0" rtl="0" algn="l">
              <a:spcBef>
                <a:spcPts val="360"/>
              </a:spcBef>
              <a:spcAft>
                <a:spcPts val="0"/>
              </a:spcAft>
              <a:buClr>
                <a:schemeClr val="dk1"/>
              </a:buClr>
              <a:buSzPct val="34375"/>
              <a:buFont typeface="Arial"/>
              <a:buNone/>
            </a:pPr>
            <a:r>
              <a:rPr lang="en-US"/>
              <a:t>    	icon=DivIcon(</a:t>
            </a:r>
            <a:endParaRPr/>
          </a:p>
          <a:p>
            <a:pPr indent="0" lvl="0" marL="0" rtl="0" algn="l">
              <a:spcBef>
                <a:spcPts val="360"/>
              </a:spcBef>
              <a:spcAft>
                <a:spcPts val="0"/>
              </a:spcAft>
              <a:buClr>
                <a:schemeClr val="dk1"/>
              </a:buClr>
              <a:buSzPct val="34375"/>
              <a:buFont typeface="Arial"/>
              <a:buNone/>
            </a:pPr>
            <a:r>
              <a:rPr lang="en-US"/>
              <a:t>        	icon_size=(20, 20),</a:t>
            </a:r>
            <a:endParaRPr/>
          </a:p>
          <a:p>
            <a:pPr indent="0" lvl="0" marL="0" rtl="0" algn="l">
              <a:spcBef>
                <a:spcPts val="360"/>
              </a:spcBef>
              <a:spcAft>
                <a:spcPts val="0"/>
              </a:spcAft>
              <a:buClr>
                <a:schemeClr val="dk1"/>
              </a:buClr>
              <a:buSzPct val="34375"/>
              <a:buFont typeface="Arial"/>
              <a:buNone/>
            </a:pPr>
            <a:r>
              <a:rPr lang="en-US"/>
              <a:t>        	icon_anchor=(0, 0),</a:t>
            </a:r>
            <a:endParaRPr/>
          </a:p>
          <a:p>
            <a:pPr indent="0" lvl="0" marL="0" rtl="0" algn="l">
              <a:spcBef>
                <a:spcPts val="360"/>
              </a:spcBef>
              <a:spcAft>
                <a:spcPts val="0"/>
              </a:spcAft>
              <a:buClr>
                <a:schemeClr val="dk1"/>
              </a:buClr>
              <a:buSzPct val="34375"/>
              <a:buFont typeface="Arial"/>
              <a:buNone/>
            </a:pPr>
            <a:r>
              <a:rPr lang="en-US"/>
              <a:t>        	html='&lt;div style="font-size: 12px; color:#d35400;"&gt;&lt;b&gt;%s&lt;/b&gt;&lt;/div&gt;' % launch_site,</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rPr lang="en-US"/>
              <a:t>	).add_to(site_map)</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Display the map</a:t>
            </a:r>
            <a:endParaRPr/>
          </a:p>
          <a:p>
            <a:pPr indent="0" lvl="0" marL="0" rtl="0" algn="l">
              <a:spcBef>
                <a:spcPts val="360"/>
              </a:spcBef>
              <a:spcAft>
                <a:spcPts val="0"/>
              </a:spcAft>
              <a:buNone/>
            </a:pPr>
            <a:r>
              <a:rPr lang="en-US"/>
              <a:t>site_map</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Distance from Florida Launch Site to    Coastline</a:t>
            </a:r>
            <a:endParaRPr/>
          </a:p>
        </p:txBody>
      </p:sp>
      <p:sp>
        <p:nvSpPr>
          <p:cNvPr id="290" name="Google Shape;290;p4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91" name="Google Shape;291;p46" title="Screenshot 2025-04-28 at 18-45-44 Untitled116.png"/>
          <p:cNvPicPr preferRelativeResize="0"/>
          <p:nvPr/>
        </p:nvPicPr>
        <p:blipFill>
          <a:blip r:embed="rId3">
            <a:alphaModFix/>
          </a:blip>
          <a:stretch>
            <a:fillRect/>
          </a:stretch>
        </p:blipFill>
        <p:spPr>
          <a:xfrm>
            <a:off x="214325" y="1600208"/>
            <a:ext cx="9144001" cy="548978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7"/>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sz="2100"/>
              <a:t>Zoomed-in Example - CCAFS SLC-40  </a:t>
            </a:r>
            <a:endParaRPr sz="2100"/>
          </a:p>
          <a:p>
            <a:pPr indent="0" lvl="0" marL="0" rtl="0" algn="l">
              <a:spcBef>
                <a:spcPts val="0"/>
              </a:spcBef>
              <a:spcAft>
                <a:spcPts val="0"/>
              </a:spcAft>
              <a:buNone/>
            </a:pPr>
            <a:r>
              <a:rPr lang="en-US" sz="2100"/>
              <a:t> </a:t>
            </a:r>
            <a:r>
              <a:rPr b="1" lang="en-US" sz="1100">
                <a:latin typeface="Arial"/>
                <a:ea typeface="Arial"/>
                <a:cs typeface="Arial"/>
                <a:sym typeface="Arial"/>
              </a:rPr>
              <a:t>Observations:</a:t>
            </a:r>
            <a:endParaRPr b="1" sz="1100">
              <a:latin typeface="Arial"/>
              <a:ea typeface="Arial"/>
              <a:cs typeface="Arial"/>
              <a:sym typeface="Arial"/>
            </a:endParaRPr>
          </a:p>
          <a:p>
            <a:pPr indent="-291465" lvl="0" marL="457200" rtl="0" algn="l">
              <a:lnSpc>
                <a:spcPct val="115000"/>
              </a:lnSpc>
              <a:spcBef>
                <a:spcPts val="1800"/>
              </a:spcBef>
              <a:spcAft>
                <a:spcPts val="0"/>
              </a:spcAft>
              <a:buSzPct val="100000"/>
              <a:buFont typeface="Arial"/>
              <a:buChar char="●"/>
            </a:pPr>
            <a:r>
              <a:rPr lang="en-US" sz="1100">
                <a:latin typeface="Arial"/>
                <a:ea typeface="Arial"/>
                <a:cs typeface="Arial"/>
                <a:sym typeface="Arial"/>
              </a:rPr>
              <a:t>High density of launches around Cape Canaveral.</a:t>
            </a:r>
            <a:br>
              <a:rPr lang="en-US" sz="1100">
                <a:latin typeface="Arial"/>
                <a:ea typeface="Arial"/>
                <a:cs typeface="Arial"/>
                <a:sym typeface="Arial"/>
              </a:rPr>
            </a:br>
            <a:endParaRPr sz="1100">
              <a:latin typeface="Arial"/>
              <a:ea typeface="Arial"/>
              <a:cs typeface="Arial"/>
              <a:sym typeface="Arial"/>
            </a:endParaRPr>
          </a:p>
          <a:p>
            <a:pPr indent="-291465" lvl="0" marL="457200" rtl="0" algn="l">
              <a:lnSpc>
                <a:spcPct val="115000"/>
              </a:lnSpc>
              <a:spcBef>
                <a:spcPts val="0"/>
              </a:spcBef>
              <a:spcAft>
                <a:spcPts val="0"/>
              </a:spcAft>
              <a:buSzPct val="100000"/>
              <a:buFont typeface="Arial"/>
              <a:buChar char="●"/>
            </a:pPr>
            <a:r>
              <a:rPr lang="en-US" sz="1100">
                <a:latin typeface="Arial"/>
                <a:ea typeface="Arial"/>
                <a:cs typeface="Arial"/>
                <a:sym typeface="Arial"/>
              </a:rPr>
              <a:t>Mostly successful launches indicated by green markers.</a:t>
            </a:r>
            <a:endParaRPr sz="1100">
              <a:latin typeface="Arial"/>
              <a:ea typeface="Arial"/>
              <a:cs typeface="Arial"/>
              <a:sym typeface="Arial"/>
            </a:endParaRPr>
          </a:p>
          <a:p>
            <a:pPr indent="0" lvl="0" marL="0" rtl="0" algn="l">
              <a:spcBef>
                <a:spcPts val="1800"/>
              </a:spcBef>
              <a:spcAft>
                <a:spcPts val="0"/>
              </a:spcAft>
              <a:buNone/>
            </a:pPr>
            <a:r>
              <a:t/>
            </a:r>
            <a:endParaRPr sz="2100"/>
          </a:p>
        </p:txBody>
      </p:sp>
      <p:sp>
        <p:nvSpPr>
          <p:cNvPr id="297" name="Google Shape;297;p4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298" name="Google Shape;298;p47" title="Screenshot 2025-04-28 at 18-51-28 Untitled116.png"/>
          <p:cNvPicPr preferRelativeResize="0"/>
          <p:nvPr/>
        </p:nvPicPr>
        <p:blipFill>
          <a:blip r:embed="rId3">
            <a:alphaModFix/>
          </a:blip>
          <a:stretch>
            <a:fillRect/>
          </a:stretch>
        </p:blipFill>
        <p:spPr>
          <a:xfrm>
            <a:off x="214300" y="1519933"/>
            <a:ext cx="9144001" cy="548978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8"/>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04" name="Google Shape;304;p48"/>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305" name="Google Shape;305;p48" title="Screenshot 2025-04-28 at 18-38-36 .png"/>
          <p:cNvPicPr preferRelativeResize="0"/>
          <p:nvPr/>
        </p:nvPicPr>
        <p:blipFill>
          <a:blip r:embed="rId3">
            <a:alphaModFix/>
          </a:blip>
          <a:stretch>
            <a:fillRect/>
          </a:stretch>
        </p:blipFill>
        <p:spPr>
          <a:xfrm>
            <a:off x="109538" y="614363"/>
            <a:ext cx="8924925" cy="56292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Key Insights</a:t>
            </a:r>
            <a:endParaRPr/>
          </a:p>
        </p:txBody>
      </p:sp>
      <p:sp>
        <p:nvSpPr>
          <p:cNvPr id="311" name="Google Shape;311;p4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lnSpcReduction="10000"/>
          </a:bodyPr>
          <a:lstStyle/>
          <a:p>
            <a:pPr indent="0" lvl="0" marL="0" rtl="0" algn="l">
              <a:lnSpc>
                <a:spcPct val="95000"/>
              </a:lnSpc>
              <a:spcBef>
                <a:spcPts val="1800"/>
              </a:spcBef>
              <a:spcAft>
                <a:spcPts val="0"/>
              </a:spcAft>
              <a:buClr>
                <a:schemeClr val="dk1"/>
              </a:buClr>
              <a:buSzPts val="1100"/>
              <a:buFont typeface="Arial"/>
              <a:buNone/>
            </a:pPr>
            <a:r>
              <a:rPr b="1" lang="en-US" sz="1800">
                <a:latin typeface="Arial"/>
                <a:ea typeface="Arial"/>
                <a:cs typeface="Arial"/>
                <a:sym typeface="Arial"/>
              </a:rPr>
              <a:t>From Map Analysis:</a:t>
            </a:r>
            <a:endParaRPr b="1" sz="1800">
              <a:latin typeface="Arial"/>
              <a:ea typeface="Arial"/>
              <a:cs typeface="Arial"/>
              <a:sym typeface="Arial"/>
            </a:endParaRPr>
          </a:p>
          <a:p>
            <a:pPr indent="-342900" lvl="0" marL="457200" rtl="0" algn="l">
              <a:lnSpc>
                <a:spcPct val="95000"/>
              </a:lnSpc>
              <a:spcBef>
                <a:spcPts val="1800"/>
              </a:spcBef>
              <a:spcAft>
                <a:spcPts val="0"/>
              </a:spcAft>
              <a:buSzPts val="1800"/>
              <a:buChar char="●"/>
            </a:pPr>
            <a:r>
              <a:rPr lang="en-US" sz="1800">
                <a:latin typeface="Arial"/>
                <a:ea typeface="Arial"/>
                <a:cs typeface="Arial"/>
                <a:sym typeface="Arial"/>
              </a:rPr>
              <a:t>Most launch sites are located near the East and West coasts.</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95000"/>
              </a:lnSpc>
              <a:spcBef>
                <a:spcPts val="0"/>
              </a:spcBef>
              <a:spcAft>
                <a:spcPts val="0"/>
              </a:spcAft>
              <a:buSzPts val="1800"/>
              <a:buChar char="●"/>
            </a:pPr>
            <a:r>
              <a:rPr lang="en-US" sz="1800">
                <a:latin typeface="Arial"/>
                <a:ea typeface="Arial"/>
                <a:cs typeface="Arial"/>
                <a:sym typeface="Arial"/>
              </a:rPr>
              <a:t>Sites like KSC LC-39A and CCAFS SLC-40 show dense clusters of successful launches.</a:t>
            </a:r>
            <a:br>
              <a:rPr lang="en-US" sz="1800">
                <a:latin typeface="Arial"/>
                <a:ea typeface="Arial"/>
                <a:cs typeface="Arial"/>
                <a:sym typeface="Arial"/>
              </a:rPr>
            </a:br>
            <a:endParaRPr sz="1800">
              <a:latin typeface="Arial"/>
              <a:ea typeface="Arial"/>
              <a:cs typeface="Arial"/>
              <a:sym typeface="Arial"/>
            </a:endParaRPr>
          </a:p>
          <a:p>
            <a:pPr indent="-342900" lvl="0" marL="457200" rtl="0" algn="l">
              <a:lnSpc>
                <a:spcPct val="95000"/>
              </a:lnSpc>
              <a:spcBef>
                <a:spcPts val="0"/>
              </a:spcBef>
              <a:spcAft>
                <a:spcPts val="0"/>
              </a:spcAft>
              <a:buSzPts val="1800"/>
              <a:buChar char="●"/>
            </a:pPr>
            <a:r>
              <a:rPr lang="en-US" sz="1800">
                <a:latin typeface="Arial"/>
                <a:ea typeface="Arial"/>
                <a:cs typeface="Arial"/>
                <a:sym typeface="Arial"/>
              </a:rPr>
              <a:t>Minimal launches from VAFB (West Coast) compared to Cape Canaveral.</a:t>
            </a:r>
            <a:endParaRPr sz="1800">
              <a:latin typeface="Arial"/>
              <a:ea typeface="Arial"/>
              <a:cs typeface="Arial"/>
              <a:sym typeface="Arial"/>
            </a:endParaRPr>
          </a:p>
          <a:p>
            <a:pPr indent="0" lvl="0" marL="0" rtl="0" algn="l">
              <a:lnSpc>
                <a:spcPct val="95000"/>
              </a:lnSpc>
              <a:spcBef>
                <a:spcPts val="1800"/>
              </a:spcBef>
              <a:spcAft>
                <a:spcPts val="0"/>
              </a:spcAft>
              <a:buNone/>
            </a:pPr>
            <a:r>
              <a:rPr b="1" lang="en-US" sz="2100">
                <a:latin typeface="Arial"/>
                <a:ea typeface="Arial"/>
                <a:cs typeface="Arial"/>
                <a:sym typeface="Arial"/>
              </a:rPr>
              <a:t>Conclusion</a:t>
            </a:r>
            <a:endParaRPr b="1" sz="2100">
              <a:latin typeface="Arial"/>
              <a:ea typeface="Arial"/>
              <a:cs typeface="Arial"/>
              <a:sym typeface="Arial"/>
            </a:endParaRPr>
          </a:p>
          <a:p>
            <a:pPr indent="-349250" lvl="0" marL="457200" rtl="0" algn="l">
              <a:lnSpc>
                <a:spcPct val="95000"/>
              </a:lnSpc>
              <a:spcBef>
                <a:spcPts val="1800"/>
              </a:spcBef>
              <a:spcAft>
                <a:spcPts val="0"/>
              </a:spcAft>
              <a:buSzPts val="1900"/>
              <a:buChar char="●"/>
            </a:pPr>
            <a:r>
              <a:rPr lang="en-US" sz="1900">
                <a:latin typeface="Arial"/>
                <a:ea typeface="Arial"/>
                <a:cs typeface="Arial"/>
                <a:sym typeface="Arial"/>
              </a:rPr>
              <a:t>Folium map provides a dynamic view of SpaceX launch operations.</a:t>
            </a:r>
            <a:br>
              <a:rPr lang="en-US" sz="1900">
                <a:latin typeface="Arial"/>
                <a:ea typeface="Arial"/>
                <a:cs typeface="Arial"/>
                <a:sym typeface="Arial"/>
              </a:rPr>
            </a:br>
            <a:endParaRPr sz="1900">
              <a:latin typeface="Arial"/>
              <a:ea typeface="Arial"/>
              <a:cs typeface="Arial"/>
              <a:sym typeface="Arial"/>
            </a:endParaRPr>
          </a:p>
          <a:p>
            <a:pPr indent="-349250" lvl="0" marL="457200" rtl="0" algn="l">
              <a:lnSpc>
                <a:spcPct val="95000"/>
              </a:lnSpc>
              <a:spcBef>
                <a:spcPts val="0"/>
              </a:spcBef>
              <a:spcAft>
                <a:spcPts val="0"/>
              </a:spcAft>
              <a:buSzPts val="1900"/>
              <a:buChar char="●"/>
            </a:pPr>
            <a:r>
              <a:rPr lang="en-US" sz="1900">
                <a:latin typeface="Arial"/>
                <a:ea typeface="Arial"/>
                <a:cs typeface="Arial"/>
                <a:sym typeface="Arial"/>
              </a:rPr>
              <a:t>Visual patterns support better site selection and success analysis.</a:t>
            </a:r>
            <a:endParaRPr sz="1900">
              <a:latin typeface="Arial"/>
              <a:ea typeface="Arial"/>
              <a:cs typeface="Arial"/>
              <a:sym typeface="Arial"/>
            </a:endParaRPr>
          </a:p>
          <a:p>
            <a:pPr indent="0" lvl="0" marL="0" rtl="0" algn="l">
              <a:lnSpc>
                <a:spcPct val="80000"/>
              </a:lnSpc>
              <a:spcBef>
                <a:spcPts val="1800"/>
              </a:spcBef>
              <a:spcAft>
                <a:spcPts val="0"/>
              </a:spcAft>
              <a:buNone/>
            </a:pPr>
            <a:r>
              <a:t/>
            </a:r>
            <a:endParaRPr sz="41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1371600" rtl="0" algn="l">
              <a:spcBef>
                <a:spcPts val="0"/>
              </a:spcBef>
              <a:spcAft>
                <a:spcPts val="0"/>
              </a:spcAft>
              <a:buClr>
                <a:schemeClr val="dk1"/>
              </a:buClr>
              <a:buSzPts val="1100"/>
              <a:buFont typeface="Arial"/>
              <a:buNone/>
            </a:pPr>
            <a:r>
              <a:rPr lang="en-US" sz="1100">
                <a:latin typeface="Arial"/>
                <a:ea typeface="Arial"/>
                <a:cs typeface="Arial"/>
                <a:sym typeface="Arial"/>
              </a:rPr>
              <a:t>         </a:t>
            </a:r>
            <a:r>
              <a:rPr lang="en-US" sz="2100">
                <a:latin typeface="Arial"/>
                <a:ea typeface="Arial"/>
                <a:cs typeface="Arial"/>
                <a:sym typeface="Arial"/>
              </a:rPr>
              <a:t>Interactive Dashboard with Plotly Dash</a:t>
            </a:r>
            <a:endParaRPr sz="2100">
              <a:latin typeface="Arial"/>
              <a:ea typeface="Arial"/>
              <a:cs typeface="Arial"/>
              <a:sym typeface="Arial"/>
            </a:endParaRPr>
          </a:p>
          <a:p>
            <a:pPr indent="0" lvl="0" marL="0" rtl="0" algn="ctr">
              <a:spcBef>
                <a:spcPts val="0"/>
              </a:spcBef>
              <a:spcAft>
                <a:spcPts val="0"/>
              </a:spcAft>
              <a:buClr>
                <a:schemeClr val="dk1"/>
              </a:buClr>
              <a:buSzPts val="1100"/>
              <a:buFont typeface="Arial"/>
              <a:buNone/>
            </a:pPr>
            <a:r>
              <a:t/>
            </a:r>
            <a:endParaRPr b="1" sz="2100">
              <a:latin typeface="Arial"/>
              <a:ea typeface="Arial"/>
              <a:cs typeface="Arial"/>
              <a:sym typeface="Arial"/>
            </a:endParaRPr>
          </a:p>
          <a:p>
            <a:pPr indent="0" lvl="0" marL="0" rtl="0" algn="ctr">
              <a:spcBef>
                <a:spcPts val="0"/>
              </a:spcBef>
              <a:spcAft>
                <a:spcPts val="0"/>
              </a:spcAft>
              <a:buNone/>
            </a:pPr>
            <a:r>
              <a:rPr lang="en-US" sz="2100">
                <a:latin typeface="Arial"/>
                <a:ea typeface="Arial"/>
                <a:cs typeface="Arial"/>
                <a:sym typeface="Arial"/>
              </a:rPr>
              <a:t>Visualizing SpaceX Launch Performance</a:t>
            </a:r>
            <a:endParaRPr sz="5400"/>
          </a:p>
        </p:txBody>
      </p:sp>
      <p:sp>
        <p:nvSpPr>
          <p:cNvPr id="317" name="Google Shape;317;p5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800">
                <a:latin typeface="Arial"/>
                <a:ea typeface="Arial"/>
                <a:cs typeface="Arial"/>
                <a:sym typeface="Arial"/>
              </a:rPr>
              <a:t>Dashboard Objective</a:t>
            </a:r>
            <a:endParaRPr b="1" sz="1800">
              <a:latin typeface="Arial"/>
              <a:ea typeface="Arial"/>
              <a:cs typeface="Arial"/>
              <a:sym typeface="Arial"/>
            </a:endParaRPr>
          </a:p>
          <a:p>
            <a:pPr indent="-330200" lvl="0" marL="457200" rtl="0" algn="l">
              <a:lnSpc>
                <a:spcPct val="115000"/>
              </a:lnSpc>
              <a:spcBef>
                <a:spcPts val="1800"/>
              </a:spcBef>
              <a:spcAft>
                <a:spcPts val="0"/>
              </a:spcAft>
              <a:buSzPts val="1600"/>
              <a:buChar char="●"/>
            </a:pPr>
            <a:r>
              <a:rPr lang="en-US" sz="1600">
                <a:latin typeface="Arial"/>
                <a:ea typeface="Arial"/>
                <a:cs typeface="Arial"/>
                <a:sym typeface="Arial"/>
              </a:rPr>
              <a:t>Provide a </a:t>
            </a:r>
            <a:r>
              <a:rPr b="1" lang="en-US" sz="1600">
                <a:latin typeface="Arial"/>
                <a:ea typeface="Arial"/>
                <a:cs typeface="Arial"/>
                <a:sym typeface="Arial"/>
              </a:rPr>
              <a:t>dynamic interface</a:t>
            </a:r>
            <a:r>
              <a:rPr lang="en-US" sz="1600">
                <a:latin typeface="Arial"/>
                <a:ea typeface="Arial"/>
                <a:cs typeface="Arial"/>
                <a:sym typeface="Arial"/>
              </a:rPr>
              <a:t> to explore SpaceX launch data</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Allow users to filter by:</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15000"/>
              </a:lnSpc>
              <a:spcBef>
                <a:spcPts val="0"/>
              </a:spcBef>
              <a:spcAft>
                <a:spcPts val="0"/>
              </a:spcAft>
              <a:buSzPts val="1600"/>
              <a:buChar char="○"/>
            </a:pPr>
            <a:r>
              <a:rPr lang="en-US" sz="1600">
                <a:latin typeface="Arial"/>
                <a:ea typeface="Arial"/>
                <a:cs typeface="Arial"/>
                <a:sym typeface="Arial"/>
              </a:rPr>
              <a:t>Launch Site</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15000"/>
              </a:lnSpc>
              <a:spcBef>
                <a:spcPts val="0"/>
              </a:spcBef>
              <a:spcAft>
                <a:spcPts val="0"/>
              </a:spcAft>
              <a:buSzPts val="1600"/>
              <a:buChar char="○"/>
            </a:pPr>
            <a:r>
              <a:rPr lang="en-US" sz="1600">
                <a:latin typeface="Arial"/>
                <a:ea typeface="Arial"/>
                <a:cs typeface="Arial"/>
                <a:sym typeface="Arial"/>
              </a:rPr>
              <a:t>Payload Mass Range</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View outcomes using </a:t>
            </a:r>
            <a:r>
              <a:rPr b="1" lang="en-US" sz="1600">
                <a:latin typeface="Arial"/>
                <a:ea typeface="Arial"/>
                <a:cs typeface="Arial"/>
                <a:sym typeface="Arial"/>
              </a:rPr>
              <a:t>interactive visuals</a:t>
            </a:r>
            <a:endParaRPr b="1" sz="1600">
              <a:latin typeface="Arial"/>
              <a:ea typeface="Arial"/>
              <a:cs typeface="Arial"/>
              <a:sym typeface="Arial"/>
            </a:endParaRPr>
          </a:p>
          <a:p>
            <a:pPr indent="0" lvl="0" marL="0" rtl="0" algn="l">
              <a:spcBef>
                <a:spcPts val="1800"/>
              </a:spcBef>
              <a:spcAft>
                <a:spcPts val="0"/>
              </a:spcAft>
              <a:buNone/>
            </a:pPr>
            <a:r>
              <a:t/>
            </a:r>
            <a:endParaRPr sz="37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1"/>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Payload Mass Distribution by Flight Number</a:t>
            </a:r>
            <a:endParaRPr/>
          </a:p>
        </p:txBody>
      </p:sp>
      <p:sp>
        <p:nvSpPr>
          <p:cNvPr id="323" name="Google Shape;323;p5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sz="2200"/>
              <a:t>This chart shows the relationship between payload mass and launch outcome across SpaceX missions. We observe that heavier payloads were generally successful, especially in later flights."</a:t>
            </a:r>
            <a:endParaRPr sz="2200"/>
          </a:p>
        </p:txBody>
      </p:sp>
      <p:pic>
        <p:nvPicPr>
          <p:cNvPr id="324" name="Google Shape;324;p51" title="Screenshot 2025-04-29 at 09-13-29 Untitled114.png"/>
          <p:cNvPicPr preferRelativeResize="0"/>
          <p:nvPr/>
        </p:nvPicPr>
        <p:blipFill>
          <a:blip r:embed="rId3">
            <a:alphaModFix/>
          </a:blip>
          <a:stretch>
            <a:fillRect/>
          </a:stretch>
        </p:blipFill>
        <p:spPr>
          <a:xfrm>
            <a:off x="253600" y="2828925"/>
            <a:ext cx="8636800" cy="2928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2"/>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Launch Success Rate by Site Over Time</a:t>
            </a:r>
            <a:endParaRPr/>
          </a:p>
        </p:txBody>
      </p:sp>
      <p:sp>
        <p:nvSpPr>
          <p:cNvPr id="330" name="Google Shape;330;p52"/>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sz="1800"/>
              <a:t>This strip plot highlights how different launch sites contributed to mission success over time. Notably, CCAFS and KSC show consistent improvements with later flights</a:t>
            </a:r>
            <a:endParaRPr sz="1800"/>
          </a:p>
        </p:txBody>
      </p:sp>
      <p:pic>
        <p:nvPicPr>
          <p:cNvPr id="331" name="Google Shape;331;p52" title="Screenshot 2025-04-29 at 09-21-36 Untitled114.png"/>
          <p:cNvPicPr preferRelativeResize="0"/>
          <p:nvPr/>
        </p:nvPicPr>
        <p:blipFill>
          <a:blip r:embed="rId3">
            <a:alphaModFix/>
          </a:blip>
          <a:stretch>
            <a:fillRect/>
          </a:stretch>
        </p:blipFill>
        <p:spPr>
          <a:xfrm>
            <a:off x="457200" y="2350275"/>
            <a:ext cx="8711799" cy="4841201"/>
          </a:xfrm>
          <a:prstGeom prst="rect">
            <a:avLst/>
          </a:prstGeom>
          <a:noFill/>
          <a:ln>
            <a:noFill/>
          </a:ln>
        </p:spPr>
      </p:pic>
      <p:pic>
        <p:nvPicPr>
          <p:cNvPr id="332" name="Google Shape;332;p52" title="Screenshot 2025-04-29 at 09-22-59 Untitled114.png"/>
          <p:cNvPicPr preferRelativeResize="0"/>
          <p:nvPr/>
        </p:nvPicPr>
        <p:blipFill>
          <a:blip r:embed="rId4">
            <a:alphaModFix/>
          </a:blip>
          <a:stretch>
            <a:fillRect/>
          </a:stretch>
        </p:blipFill>
        <p:spPr>
          <a:xfrm>
            <a:off x="289300" y="2401175"/>
            <a:ext cx="9011876" cy="4648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3"/>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Impact of Payload Mass on Launch Success Across Different Sites</a:t>
            </a:r>
            <a:endParaRPr/>
          </a:p>
        </p:txBody>
      </p:sp>
      <p:sp>
        <p:nvSpPr>
          <p:cNvPr id="338" name="Google Shape;338;p53"/>
          <p:cNvSpPr txBox="1"/>
          <p:nvPr>
            <p:ph idx="1" type="body"/>
          </p:nvPr>
        </p:nvSpPr>
        <p:spPr>
          <a:xfrm>
            <a:off x="457200" y="1600200"/>
            <a:ext cx="8372400" cy="4759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sz="1700"/>
              <a:t>This plot illustrates the relationship between payload mass and launch site, with each point representing a launch. Color coding indicates whether the launch was successful (red) or failed (blue). The visualization helps identify trends in launch success relative to payload size and site.</a:t>
            </a:r>
            <a:endParaRPr sz="1700"/>
          </a:p>
        </p:txBody>
      </p:sp>
      <p:pic>
        <p:nvPicPr>
          <p:cNvPr id="339" name="Google Shape;339;p53" title="Screenshot 2025-04-29 at 09-34-53 Untitled114.png"/>
          <p:cNvPicPr preferRelativeResize="0"/>
          <p:nvPr/>
        </p:nvPicPr>
        <p:blipFill>
          <a:blip r:embed="rId3">
            <a:alphaModFix/>
          </a:blip>
          <a:stretch>
            <a:fillRect/>
          </a:stretch>
        </p:blipFill>
        <p:spPr>
          <a:xfrm>
            <a:off x="642950" y="3096800"/>
            <a:ext cx="8229601" cy="349854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Launch Success Rate by Orbit Type</a:t>
            </a:r>
            <a:endParaRPr/>
          </a:p>
        </p:txBody>
      </p:sp>
      <p:sp>
        <p:nvSpPr>
          <p:cNvPr id="345" name="Google Shape;345;p54"/>
          <p:cNvSpPr txBox="1"/>
          <p:nvPr>
            <p:ph idx="1" type="body"/>
          </p:nvPr>
        </p:nvSpPr>
        <p:spPr>
          <a:xfrm>
            <a:off x="457200" y="1760925"/>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sz="1800"/>
              <a:t>This bar chart shows the proportion of successful launches for each orbit type. The success rate is calculated as the ratio of successful launches to total launches per orbit. The chart reveals which orbit types have historically seen higher mission success.</a:t>
            </a:r>
            <a:endParaRPr sz="1800"/>
          </a:p>
        </p:txBody>
      </p:sp>
      <p:pic>
        <p:nvPicPr>
          <p:cNvPr id="346" name="Google Shape;346;p54" title="Screenshot 2025-04-29 at 09-37-12 Untitled114.png"/>
          <p:cNvPicPr preferRelativeResize="0"/>
          <p:nvPr/>
        </p:nvPicPr>
        <p:blipFill>
          <a:blip r:embed="rId3">
            <a:alphaModFix/>
          </a:blip>
          <a:stretch>
            <a:fillRect/>
          </a:stretch>
        </p:blipFill>
        <p:spPr>
          <a:xfrm>
            <a:off x="457200" y="2678900"/>
            <a:ext cx="8611776" cy="4653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5"/>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Launch Outcome Trends by Flight Number and Orbit Type</a:t>
            </a:r>
            <a:endParaRPr/>
          </a:p>
        </p:txBody>
      </p:sp>
      <p:sp>
        <p:nvSpPr>
          <p:cNvPr id="352" name="Google Shape;352;p55"/>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sz="1800"/>
              <a:t>This plot displays each launch by its flight number and orbit type. Color coding indicates launch outcome—success (1) or failure (0). It helps identify patterns in launch reliability across orbit types over tim</a:t>
            </a:r>
            <a:r>
              <a:rPr lang="en-US" sz="1800"/>
              <a:t>e.</a:t>
            </a:r>
            <a:endParaRPr sz="1800"/>
          </a:p>
        </p:txBody>
      </p:sp>
      <p:pic>
        <p:nvPicPr>
          <p:cNvPr id="353" name="Google Shape;353;p55" title="Screenshot 2025-04-29 at 09-39-33 Untitled114.png"/>
          <p:cNvPicPr preferRelativeResize="0"/>
          <p:nvPr/>
        </p:nvPicPr>
        <p:blipFill>
          <a:blip r:embed="rId3">
            <a:alphaModFix/>
          </a:blip>
          <a:stretch>
            <a:fillRect/>
          </a:stretch>
        </p:blipFill>
        <p:spPr>
          <a:xfrm>
            <a:off x="632225" y="2639125"/>
            <a:ext cx="8465350" cy="44515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6"/>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Launch Success by Payload Mass and Orbit Type</a:t>
            </a:r>
            <a:endParaRPr/>
          </a:p>
        </p:txBody>
      </p:sp>
      <p:sp>
        <p:nvSpPr>
          <p:cNvPr id="359" name="Google Shape;359;p5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sz="1800"/>
              <a:t>This strip plot shows the distribution of payload mass across different orbit types, with color coding representing the success (1) or failure (0) of the launches. It helps identify whether larger payloads tend to be associated with specific orbit types and launch outcomes</a:t>
            </a:r>
            <a:endParaRPr sz="1800"/>
          </a:p>
        </p:txBody>
      </p:sp>
      <p:pic>
        <p:nvPicPr>
          <p:cNvPr id="360" name="Google Shape;360;p56" title="Screenshot 2025-04-29 at 09-42-18 Untitled114.png"/>
          <p:cNvPicPr preferRelativeResize="0"/>
          <p:nvPr/>
        </p:nvPicPr>
        <p:blipFill>
          <a:blip r:embed="rId3">
            <a:alphaModFix/>
          </a:blip>
          <a:stretch>
            <a:fillRect/>
          </a:stretch>
        </p:blipFill>
        <p:spPr>
          <a:xfrm>
            <a:off x="278625" y="2518175"/>
            <a:ext cx="9043976" cy="382627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7"/>
          <p:cNvSpPr txBox="1"/>
          <p:nvPr>
            <p:ph type="title"/>
          </p:nvPr>
        </p:nvSpPr>
        <p:spPr>
          <a:xfrm>
            <a:off x="457200" y="289325"/>
            <a:ext cx="8229600" cy="1128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Yearly Launch Success Trend</a:t>
            </a:r>
            <a:endParaRPr/>
          </a:p>
        </p:txBody>
      </p:sp>
      <p:sp>
        <p:nvSpPr>
          <p:cNvPr id="366" name="Google Shape;366;p5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sz="2000"/>
              <a:t>This line plot shows the average success rate of launches over the years. It highlights trends in launch reliability, helping to identify periods of improvement or decline in launch success. There is steady improvement in launch success rate.</a:t>
            </a:r>
            <a:endParaRPr sz="2000"/>
          </a:p>
        </p:txBody>
      </p:sp>
      <p:pic>
        <p:nvPicPr>
          <p:cNvPr id="367" name="Google Shape;367;p57" title="Screenshot 2025-04-29 at 09-44-19 Untitled114.png"/>
          <p:cNvPicPr preferRelativeResize="0"/>
          <p:nvPr/>
        </p:nvPicPr>
        <p:blipFill>
          <a:blip r:embed="rId3">
            <a:alphaModFix/>
          </a:blip>
          <a:stretch>
            <a:fillRect/>
          </a:stretch>
        </p:blipFill>
        <p:spPr>
          <a:xfrm>
            <a:off x="760800" y="3158700"/>
            <a:ext cx="8090300" cy="50066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8"/>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Introduction to Predictive Analysis</a:t>
            </a:r>
            <a:endParaRPr/>
          </a:p>
        </p:txBody>
      </p:sp>
      <p:sp>
        <p:nvSpPr>
          <p:cNvPr id="373" name="Google Shape;373;p58"/>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85000" lnSpcReduction="20000"/>
          </a:bodyPr>
          <a:lstStyle/>
          <a:p>
            <a:pPr indent="0" lvl="0" marL="0" rtl="0" algn="l">
              <a:spcBef>
                <a:spcPts val="360"/>
              </a:spcBef>
              <a:spcAft>
                <a:spcPts val="0"/>
              </a:spcAft>
              <a:buClr>
                <a:schemeClr val="dk1"/>
              </a:buClr>
              <a:buSzPct val="34375"/>
              <a:buFont typeface="Arial"/>
              <a:buNone/>
            </a:pPr>
            <a:r>
              <a:rPr lang="en-US"/>
              <a:t>Predictive analysis is used to forecast outcomes based on historical data, and in this project, it involves classifying the success of a launch.</a:t>
            </a:r>
            <a:br>
              <a:rPr lang="en-US"/>
            </a:br>
            <a:endParaRPr/>
          </a:p>
          <a:p>
            <a:pPr indent="0" lvl="0" marL="0" rtl="0" algn="l">
              <a:spcBef>
                <a:spcPts val="360"/>
              </a:spcBef>
              <a:spcAft>
                <a:spcPts val="0"/>
              </a:spcAft>
              <a:buClr>
                <a:schemeClr val="dk1"/>
              </a:buClr>
              <a:buSzPct val="34375"/>
              <a:buFont typeface="Arial"/>
              <a:buNone/>
            </a:pPr>
            <a:r>
              <a:rPr lang="en-US"/>
              <a:t>The models used for classification include Logistic Regression, Support Vector Machines (SVM), Decision Trees, and K-Nearest Neighbors (KNN).</a:t>
            </a:r>
            <a:br>
              <a:rPr lang="en-US"/>
            </a:br>
            <a:endParaRPr/>
          </a:p>
          <a:p>
            <a:pPr indent="0" lvl="0" marL="0" rtl="0" algn="l">
              <a:spcBef>
                <a:spcPts val="360"/>
              </a:spcBef>
              <a:spcAft>
                <a:spcPts val="0"/>
              </a:spcAft>
              <a:buClr>
                <a:schemeClr val="dk1"/>
              </a:buClr>
              <a:buSzPct val="34375"/>
              <a:buFont typeface="Arial"/>
              <a:buNone/>
            </a:pPr>
            <a:r>
              <a:rPr lang="en-US"/>
              <a:t>The goal is to predict the success of a launch based on features like payload mass, orbit, and other mission-related attributes.</a:t>
            </a:r>
            <a:endParaRPr/>
          </a:p>
          <a:p>
            <a:pPr indent="0" lvl="0" marL="0" rtl="0" algn="l">
              <a:spcBef>
                <a:spcPts val="36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lang="en-US" sz="3359"/>
              <a:t>Data Preprocessing and Feature Engineering</a:t>
            </a:r>
            <a:endParaRPr sz="3359"/>
          </a:p>
        </p:txBody>
      </p:sp>
      <p:sp>
        <p:nvSpPr>
          <p:cNvPr id="379" name="Google Shape;379;p5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b="1" lang="en-US" sz="1700">
                <a:latin typeface="Arial"/>
                <a:ea typeface="Arial"/>
                <a:cs typeface="Arial"/>
                <a:sym typeface="Arial"/>
              </a:rPr>
              <a:t>Handling Missing Values:</a:t>
            </a:r>
            <a:r>
              <a:rPr lang="en-US" sz="1700">
                <a:latin typeface="Arial"/>
                <a:ea typeface="Arial"/>
                <a:cs typeface="Arial"/>
                <a:sym typeface="Arial"/>
              </a:rPr>
              <a:t> Imputation or removal of missing values from the dataset.</a:t>
            </a:r>
            <a:br>
              <a:rPr lang="en-US" sz="1700">
                <a:latin typeface="Arial"/>
                <a:ea typeface="Arial"/>
                <a:cs typeface="Arial"/>
                <a:sym typeface="Arial"/>
              </a:rPr>
            </a:br>
            <a:endParaRPr sz="17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1700">
                <a:latin typeface="Arial"/>
                <a:ea typeface="Arial"/>
                <a:cs typeface="Arial"/>
                <a:sym typeface="Arial"/>
              </a:rPr>
              <a:t>Feature Encoding:</a:t>
            </a:r>
            <a:r>
              <a:rPr lang="en-US" sz="1700">
                <a:latin typeface="Arial"/>
                <a:ea typeface="Arial"/>
                <a:cs typeface="Arial"/>
                <a:sym typeface="Arial"/>
              </a:rPr>
              <a:t> Encoding categorical features (e.g., encoding mission outcome and rocket types).</a:t>
            </a:r>
            <a:br>
              <a:rPr lang="en-US" sz="1700">
                <a:latin typeface="Arial"/>
                <a:ea typeface="Arial"/>
                <a:cs typeface="Arial"/>
                <a:sym typeface="Arial"/>
              </a:rPr>
            </a:br>
            <a:endParaRPr sz="17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1700">
                <a:latin typeface="Arial"/>
                <a:ea typeface="Arial"/>
                <a:cs typeface="Arial"/>
                <a:sym typeface="Arial"/>
              </a:rPr>
              <a:t>Feature Scaling:</a:t>
            </a:r>
            <a:r>
              <a:rPr lang="en-US" sz="1700">
                <a:latin typeface="Arial"/>
                <a:ea typeface="Arial"/>
                <a:cs typeface="Arial"/>
                <a:sym typeface="Arial"/>
              </a:rPr>
              <a:t> Normalizing or standardizing continuous variables like payload mass.</a:t>
            </a:r>
            <a:br>
              <a:rPr lang="en-US" sz="1700">
                <a:latin typeface="Arial"/>
                <a:ea typeface="Arial"/>
                <a:cs typeface="Arial"/>
                <a:sym typeface="Arial"/>
              </a:rPr>
            </a:br>
            <a:endParaRPr sz="17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1700">
                <a:latin typeface="Arial"/>
                <a:ea typeface="Arial"/>
                <a:cs typeface="Arial"/>
                <a:sym typeface="Arial"/>
              </a:rPr>
              <a:t>Data Split:</a:t>
            </a:r>
            <a:r>
              <a:rPr lang="en-US" sz="1700">
                <a:latin typeface="Arial"/>
                <a:ea typeface="Arial"/>
                <a:cs typeface="Arial"/>
                <a:sym typeface="Arial"/>
              </a:rPr>
              <a:t> Splitting the data into training (80%) and testing (20%) datasets.</a:t>
            </a:r>
            <a:endParaRPr sz="1700">
              <a:latin typeface="Arial"/>
              <a:ea typeface="Arial"/>
              <a:cs typeface="Arial"/>
              <a:sym typeface="Arial"/>
            </a:endParaRPr>
          </a:p>
          <a:p>
            <a:pPr indent="0" lvl="0" marL="0" rtl="0" algn="l">
              <a:spcBef>
                <a:spcPts val="36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Model Selection</a:t>
            </a:r>
            <a:endParaRPr/>
          </a:p>
        </p:txBody>
      </p:sp>
      <p:sp>
        <p:nvSpPr>
          <p:cNvPr id="385" name="Google Shape;385;p6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b="1" lang="en-US" sz="1700">
                <a:latin typeface="Arial"/>
                <a:ea typeface="Arial"/>
                <a:cs typeface="Arial"/>
                <a:sym typeface="Arial"/>
              </a:rPr>
              <a:t>Logistic Regression</a:t>
            </a:r>
            <a:r>
              <a:rPr lang="en-US" sz="1700">
                <a:latin typeface="Arial"/>
                <a:ea typeface="Arial"/>
                <a:cs typeface="Arial"/>
                <a:sym typeface="Arial"/>
              </a:rPr>
              <a:t>: Used for binary classification; calculates the probability of success.</a:t>
            </a:r>
            <a:br>
              <a:rPr lang="en-US" sz="1700">
                <a:latin typeface="Arial"/>
                <a:ea typeface="Arial"/>
                <a:cs typeface="Arial"/>
                <a:sym typeface="Arial"/>
              </a:rPr>
            </a:br>
            <a:endParaRPr sz="17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1700">
                <a:latin typeface="Arial"/>
                <a:ea typeface="Arial"/>
                <a:cs typeface="Arial"/>
                <a:sym typeface="Arial"/>
              </a:rPr>
              <a:t>SVM</a:t>
            </a:r>
            <a:r>
              <a:rPr lang="en-US" sz="1700">
                <a:latin typeface="Arial"/>
                <a:ea typeface="Arial"/>
                <a:cs typeface="Arial"/>
                <a:sym typeface="Arial"/>
              </a:rPr>
              <a:t>: SVM tries to maximize the margin between classes.</a:t>
            </a:r>
            <a:br>
              <a:rPr lang="en-US" sz="1700">
                <a:latin typeface="Arial"/>
                <a:ea typeface="Arial"/>
                <a:cs typeface="Arial"/>
                <a:sym typeface="Arial"/>
              </a:rPr>
            </a:br>
            <a:endParaRPr sz="17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1700">
                <a:latin typeface="Arial"/>
                <a:ea typeface="Arial"/>
                <a:cs typeface="Arial"/>
                <a:sym typeface="Arial"/>
              </a:rPr>
              <a:t>Decision Trees</a:t>
            </a:r>
            <a:r>
              <a:rPr lang="en-US" sz="1700">
                <a:latin typeface="Arial"/>
                <a:ea typeface="Arial"/>
                <a:cs typeface="Arial"/>
                <a:sym typeface="Arial"/>
              </a:rPr>
              <a:t>: A tree-based model that splits the data based on feature values.</a:t>
            </a:r>
            <a:br>
              <a:rPr lang="en-US" sz="1700">
                <a:latin typeface="Arial"/>
                <a:ea typeface="Arial"/>
                <a:cs typeface="Arial"/>
                <a:sym typeface="Arial"/>
              </a:rPr>
            </a:br>
            <a:endParaRPr sz="17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US" sz="1700">
                <a:latin typeface="Arial"/>
                <a:ea typeface="Arial"/>
                <a:cs typeface="Arial"/>
                <a:sym typeface="Arial"/>
              </a:rPr>
              <a:t>K-Nearest Neighbors (KNN)</a:t>
            </a:r>
            <a:r>
              <a:rPr lang="en-US" sz="1700">
                <a:latin typeface="Arial"/>
                <a:ea typeface="Arial"/>
                <a:cs typeface="Arial"/>
                <a:sym typeface="Arial"/>
              </a:rPr>
              <a:t>: Classifies based on the majority vote of neighbors.</a:t>
            </a:r>
            <a:endParaRPr sz="1700">
              <a:latin typeface="Arial"/>
              <a:ea typeface="Arial"/>
              <a:cs typeface="Arial"/>
              <a:sym typeface="Arial"/>
            </a:endParaRPr>
          </a:p>
          <a:p>
            <a:pPr indent="0" lvl="0" marL="0" rtl="0" algn="l">
              <a:spcBef>
                <a:spcPts val="360"/>
              </a:spcBef>
              <a:spcAft>
                <a:spcPts val="0"/>
              </a:spcAft>
              <a:buNone/>
            </a:pPr>
            <a:r>
              <a:t/>
            </a:r>
            <a:endParaRPr sz="38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3300">
                <a:latin typeface="Arial"/>
                <a:ea typeface="Arial"/>
                <a:cs typeface="Arial"/>
                <a:sym typeface="Arial"/>
              </a:rPr>
              <a:t>Model Performance Metrics</a:t>
            </a:r>
            <a:endParaRPr sz="6600"/>
          </a:p>
        </p:txBody>
      </p:sp>
      <p:sp>
        <p:nvSpPr>
          <p:cNvPr id="391" name="Google Shape;391;p61"/>
          <p:cNvSpPr txBox="1"/>
          <p:nvPr>
            <p:ph idx="1" type="body"/>
          </p:nvPr>
        </p:nvSpPr>
        <p:spPr>
          <a:xfrm>
            <a:off x="532225" y="1653775"/>
            <a:ext cx="8229600" cy="4526100"/>
          </a:xfrm>
          <a:prstGeom prst="rect">
            <a:avLst/>
          </a:prstGeom>
        </p:spPr>
        <p:txBody>
          <a:bodyPr anchorCtr="0" anchor="t" bIns="45700" lIns="91425" spcFirstLastPara="1" rIns="91425" wrap="square" tIns="45700">
            <a:normAutofit/>
          </a:bodyPr>
          <a:lstStyle/>
          <a:p>
            <a:pPr indent="0" lvl="0" marL="0" rtl="0" algn="l">
              <a:lnSpc>
                <a:spcPct val="115000"/>
              </a:lnSpc>
              <a:spcBef>
                <a:spcPts val="1800"/>
              </a:spcBef>
              <a:spcAft>
                <a:spcPts val="0"/>
              </a:spcAft>
              <a:buClr>
                <a:schemeClr val="dk1"/>
              </a:buClr>
              <a:buSzPts val="1100"/>
              <a:buFont typeface="Arial"/>
              <a:buNone/>
            </a:pPr>
            <a:r>
              <a:rPr lang="en-US" sz="1700">
                <a:latin typeface="Arial"/>
                <a:ea typeface="Arial"/>
                <a:cs typeface="Arial"/>
                <a:sym typeface="Arial"/>
              </a:rPr>
              <a:t>The models are evaluated based on key performance metrics:</a:t>
            </a:r>
            <a:endParaRPr sz="1700">
              <a:latin typeface="Arial"/>
              <a:ea typeface="Arial"/>
              <a:cs typeface="Arial"/>
              <a:sym typeface="Arial"/>
            </a:endParaRPr>
          </a:p>
          <a:p>
            <a:pPr indent="-336550" lvl="0" marL="457200" rtl="0" algn="l">
              <a:lnSpc>
                <a:spcPct val="115000"/>
              </a:lnSpc>
              <a:spcBef>
                <a:spcPts val="1800"/>
              </a:spcBef>
              <a:spcAft>
                <a:spcPts val="0"/>
              </a:spcAft>
              <a:buSzPts val="1700"/>
              <a:buChar char="●"/>
            </a:pPr>
            <a:r>
              <a:rPr b="1" lang="en-US" sz="1700">
                <a:latin typeface="Arial"/>
                <a:ea typeface="Arial"/>
                <a:cs typeface="Arial"/>
                <a:sym typeface="Arial"/>
              </a:rPr>
              <a:t>Accuracy</a:t>
            </a:r>
            <a:r>
              <a:rPr lang="en-US" sz="1700">
                <a:latin typeface="Arial"/>
                <a:ea typeface="Arial"/>
                <a:cs typeface="Arial"/>
                <a:sym typeface="Arial"/>
              </a:rPr>
              <a:t>: Percentage of correct predictions.</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b="1" lang="en-US" sz="1700">
                <a:latin typeface="Arial"/>
                <a:ea typeface="Arial"/>
                <a:cs typeface="Arial"/>
                <a:sym typeface="Arial"/>
              </a:rPr>
              <a:t>Precision</a:t>
            </a:r>
            <a:r>
              <a:rPr lang="en-US" sz="1700">
                <a:latin typeface="Arial"/>
                <a:ea typeface="Arial"/>
                <a:cs typeface="Arial"/>
                <a:sym typeface="Arial"/>
              </a:rPr>
              <a:t>: The proportion of positive predictions that are actually correct.</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b="1" lang="en-US" sz="1700">
                <a:latin typeface="Arial"/>
                <a:ea typeface="Arial"/>
                <a:cs typeface="Arial"/>
                <a:sym typeface="Arial"/>
              </a:rPr>
              <a:t>Recall</a:t>
            </a:r>
            <a:r>
              <a:rPr lang="en-US" sz="1700">
                <a:latin typeface="Arial"/>
                <a:ea typeface="Arial"/>
                <a:cs typeface="Arial"/>
                <a:sym typeface="Arial"/>
              </a:rPr>
              <a:t>: The proportion of actual positives that were identified.</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b="1" lang="en-US" sz="1700">
                <a:latin typeface="Arial"/>
                <a:ea typeface="Arial"/>
                <a:cs typeface="Arial"/>
                <a:sym typeface="Arial"/>
              </a:rPr>
              <a:t>F1 Score</a:t>
            </a:r>
            <a:r>
              <a:rPr lang="en-US" sz="1700">
                <a:latin typeface="Arial"/>
                <a:ea typeface="Arial"/>
                <a:cs typeface="Arial"/>
                <a:sym typeface="Arial"/>
              </a:rPr>
              <a:t>: Harmonic mean of Precision and Recall.</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b="1" lang="en-US" sz="1700">
                <a:latin typeface="Arial"/>
                <a:ea typeface="Arial"/>
                <a:cs typeface="Arial"/>
                <a:sym typeface="Arial"/>
              </a:rPr>
              <a:t>Confusion Matrix</a:t>
            </a:r>
            <a:r>
              <a:rPr lang="en-US" sz="1700">
                <a:latin typeface="Arial"/>
                <a:ea typeface="Arial"/>
                <a:cs typeface="Arial"/>
                <a:sym typeface="Arial"/>
              </a:rPr>
              <a:t>: To visualize True Positives, False Positives, True Negatives, and False Negatives.</a:t>
            </a:r>
            <a:endParaRPr sz="17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Confusion Matrix</a:t>
            </a:r>
            <a:endParaRPr/>
          </a:p>
        </p:txBody>
      </p:sp>
      <p:sp>
        <p:nvSpPr>
          <p:cNvPr id="397" name="Google Shape;397;p62"/>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US" sz="1800"/>
              <a:t>The confusion matrix shows the performance of the classification model. It displays the number of true positives, true negatives, false positives, and false negatives.</a:t>
            </a:r>
            <a:br>
              <a:rPr lang="en-US" sz="1800"/>
            </a:br>
            <a:endParaRPr sz="1800"/>
          </a:p>
          <a:p>
            <a:pPr indent="0" lvl="0" marL="0" rtl="0" algn="l">
              <a:spcBef>
                <a:spcPts val="360"/>
              </a:spcBef>
              <a:spcAft>
                <a:spcPts val="0"/>
              </a:spcAft>
              <a:buClr>
                <a:schemeClr val="dk1"/>
              </a:buClr>
              <a:buSzPts val="1100"/>
              <a:buFont typeface="Arial"/>
              <a:buNone/>
            </a:pPr>
            <a:r>
              <a:rPr lang="en-US" sz="1800"/>
              <a:t>This helps understand the model’s classification ability by showing where it makes mistakes.</a:t>
            </a:r>
            <a:endParaRPr sz="1800"/>
          </a:p>
          <a:p>
            <a:pPr indent="0" lvl="0" marL="0" rtl="0" algn="l">
              <a:spcBef>
                <a:spcPts val="360"/>
              </a:spcBef>
              <a:spcAft>
                <a:spcPts val="0"/>
              </a:spcAft>
              <a:buNone/>
            </a:pPr>
            <a:r>
              <a:t/>
            </a:r>
            <a:endParaRPr sz="18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ROC Curve and AUC</a:t>
            </a:r>
            <a:endParaRPr/>
          </a:p>
        </p:txBody>
      </p:sp>
      <p:sp>
        <p:nvSpPr>
          <p:cNvPr id="403" name="Google Shape;403;p63"/>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49250" lvl="0" marL="457200" rtl="0" algn="l">
              <a:lnSpc>
                <a:spcPct val="115000"/>
              </a:lnSpc>
              <a:spcBef>
                <a:spcPts val="1800"/>
              </a:spcBef>
              <a:spcAft>
                <a:spcPts val="0"/>
              </a:spcAft>
              <a:buSzPts val="1900"/>
              <a:buChar char="●"/>
            </a:pPr>
            <a:r>
              <a:rPr b="1" lang="en-US" sz="1900">
                <a:latin typeface="Arial"/>
                <a:ea typeface="Arial"/>
                <a:cs typeface="Arial"/>
                <a:sym typeface="Arial"/>
              </a:rPr>
              <a:t>ROC Curve</a:t>
            </a:r>
            <a:r>
              <a:rPr lang="en-US" sz="1900">
                <a:latin typeface="Arial"/>
                <a:ea typeface="Arial"/>
                <a:cs typeface="Arial"/>
                <a:sym typeface="Arial"/>
              </a:rPr>
              <a:t>: Plots the True Positive Rate (TPR) against the False Positive Rate (FPR).</a:t>
            </a:r>
            <a:br>
              <a:rPr lang="en-US" sz="1900">
                <a:latin typeface="Arial"/>
                <a:ea typeface="Arial"/>
                <a:cs typeface="Arial"/>
                <a:sym typeface="Arial"/>
              </a:rPr>
            </a:br>
            <a:endParaRPr sz="1900">
              <a:latin typeface="Arial"/>
              <a:ea typeface="Arial"/>
              <a:cs typeface="Arial"/>
              <a:sym typeface="Arial"/>
            </a:endParaRPr>
          </a:p>
          <a:p>
            <a:pPr indent="-349250" lvl="0" marL="457200" rtl="0" algn="l">
              <a:lnSpc>
                <a:spcPct val="115000"/>
              </a:lnSpc>
              <a:spcBef>
                <a:spcPts val="0"/>
              </a:spcBef>
              <a:spcAft>
                <a:spcPts val="0"/>
              </a:spcAft>
              <a:buSzPts val="1900"/>
              <a:buChar char="●"/>
            </a:pPr>
            <a:r>
              <a:rPr b="1" lang="en-US" sz="1900">
                <a:latin typeface="Arial"/>
                <a:ea typeface="Arial"/>
                <a:cs typeface="Arial"/>
                <a:sym typeface="Arial"/>
              </a:rPr>
              <a:t>AUC</a:t>
            </a:r>
            <a:r>
              <a:rPr lang="en-US" sz="1900">
                <a:latin typeface="Arial"/>
                <a:ea typeface="Arial"/>
                <a:cs typeface="Arial"/>
                <a:sym typeface="Arial"/>
              </a:rPr>
              <a:t>: Area Under the Curve (AUC) represents how well the model distinguishes between the classes. An AUC of 1 is perfect, while an AUC of 0.5 means the model performs no better than random guessing.</a:t>
            </a:r>
            <a:br>
              <a:rPr lang="en-US" sz="1900">
                <a:latin typeface="Arial"/>
                <a:ea typeface="Arial"/>
                <a:cs typeface="Arial"/>
                <a:sym typeface="Arial"/>
              </a:rPr>
            </a:br>
            <a:endParaRPr b="1" sz="11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4"/>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Comparison of</a:t>
            </a:r>
            <a:r>
              <a:rPr lang="en-US"/>
              <a:t> confusion matrices across multiple classifiers</a:t>
            </a:r>
            <a:endParaRPr/>
          </a:p>
        </p:txBody>
      </p:sp>
      <p:sp>
        <p:nvSpPr>
          <p:cNvPr id="409" name="Google Shape;409;p6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410" name="Google Shape;410;p64" title="Screenshot 2025-04-29 at 10-17-32 Untitled117.png"/>
          <p:cNvPicPr preferRelativeResize="0"/>
          <p:nvPr/>
        </p:nvPicPr>
        <p:blipFill>
          <a:blip r:embed="rId3">
            <a:alphaModFix/>
          </a:blip>
          <a:stretch>
            <a:fillRect/>
          </a:stretch>
        </p:blipFill>
        <p:spPr>
          <a:xfrm>
            <a:off x="960700" y="1360875"/>
            <a:ext cx="7222600" cy="549712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Comparison of Results</a:t>
            </a:r>
            <a:endParaRPr/>
          </a:p>
        </p:txBody>
      </p:sp>
      <p:sp>
        <p:nvSpPr>
          <p:cNvPr id="416" name="Google Shape;416;p65"/>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457200" rtl="0" algn="l">
              <a:lnSpc>
                <a:spcPct val="115000"/>
              </a:lnSpc>
              <a:spcBef>
                <a:spcPts val="1800"/>
              </a:spcBef>
              <a:spcAft>
                <a:spcPts val="0"/>
              </a:spcAft>
              <a:buNone/>
            </a:pPr>
            <a:r>
              <a:t/>
            </a:r>
            <a:endParaRPr sz="1100">
              <a:latin typeface="Arial"/>
              <a:ea typeface="Arial"/>
              <a:cs typeface="Arial"/>
              <a:sym typeface="Arial"/>
            </a:endParaRPr>
          </a:p>
          <a:p>
            <a:pPr indent="0" lvl="0" marL="0" rtl="0" algn="l">
              <a:spcBef>
                <a:spcPts val="1800"/>
              </a:spcBef>
              <a:spcAft>
                <a:spcPts val="0"/>
              </a:spcAft>
              <a:buNone/>
            </a:pPr>
            <a:r>
              <a:t/>
            </a:r>
            <a:endParaRPr/>
          </a:p>
        </p:txBody>
      </p:sp>
      <p:pic>
        <p:nvPicPr>
          <p:cNvPr id="417" name="Google Shape;417;p65" title="Screenshot 2025-04-29 at 10-17-32 Untitled117.png"/>
          <p:cNvPicPr preferRelativeResize="0"/>
          <p:nvPr/>
        </p:nvPicPr>
        <p:blipFill>
          <a:blip r:embed="rId3">
            <a:alphaModFix/>
          </a:blip>
          <a:stretch>
            <a:fillRect/>
          </a:stretch>
        </p:blipFill>
        <p:spPr>
          <a:xfrm>
            <a:off x="171450" y="0"/>
            <a:ext cx="9022549" cy="6858000"/>
          </a:xfrm>
          <a:prstGeom prst="rect">
            <a:avLst/>
          </a:prstGeom>
          <a:noFill/>
          <a:ln>
            <a:noFill/>
          </a:ln>
        </p:spPr>
      </p:pic>
      <p:pic>
        <p:nvPicPr>
          <p:cNvPr id="418" name="Google Shape;418;p65" title="Screenshot 2025-04-29 at 10-19-17 Untitled117.png"/>
          <p:cNvPicPr preferRelativeResize="0"/>
          <p:nvPr/>
        </p:nvPicPr>
        <p:blipFill>
          <a:blip r:embed="rId4">
            <a:alphaModFix/>
          </a:blip>
          <a:stretch>
            <a:fillRect/>
          </a:stretch>
        </p:blipFill>
        <p:spPr>
          <a:xfrm>
            <a:off x="712745" y="0"/>
            <a:ext cx="7718509" cy="68580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6"/>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C</a:t>
            </a:r>
            <a:r>
              <a:rPr lang="en-US"/>
              <a:t>omparison</a:t>
            </a:r>
            <a:r>
              <a:rPr lang="en-US"/>
              <a:t> of Classification Models</a:t>
            </a:r>
            <a:endParaRPr/>
          </a:p>
        </p:txBody>
      </p:sp>
      <p:sp>
        <p:nvSpPr>
          <p:cNvPr id="424" name="Google Shape;424;p6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425" name="Google Shape;425;p66" title="Screenshot 2025-04-29 at 11-28-43 Payload Mass Plot Customization.png"/>
          <p:cNvPicPr preferRelativeResize="0"/>
          <p:nvPr/>
        </p:nvPicPr>
        <p:blipFill>
          <a:blip r:embed="rId3">
            <a:alphaModFix/>
          </a:blip>
          <a:stretch>
            <a:fillRect/>
          </a:stretch>
        </p:blipFill>
        <p:spPr>
          <a:xfrm>
            <a:off x="0" y="1239151"/>
            <a:ext cx="9143999" cy="46544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Best Model Selection</a:t>
            </a:r>
            <a:endParaRPr/>
          </a:p>
        </p:txBody>
      </p:sp>
      <p:sp>
        <p:nvSpPr>
          <p:cNvPr id="431" name="Google Shape;431;p6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Based on the results, the </a:t>
            </a:r>
            <a:r>
              <a:rPr b="1" lang="en-US" sz="1800">
                <a:latin typeface="Arial"/>
                <a:ea typeface="Arial"/>
                <a:cs typeface="Arial"/>
                <a:sym typeface="Arial"/>
              </a:rPr>
              <a:t>best-performing model</a:t>
            </a:r>
            <a:r>
              <a:rPr lang="en-US" sz="1800">
                <a:latin typeface="Arial"/>
                <a:ea typeface="Arial"/>
                <a:cs typeface="Arial"/>
                <a:sym typeface="Arial"/>
              </a:rPr>
              <a:t>,</a:t>
            </a:r>
            <a:r>
              <a:rPr b="1" lang="en-US" sz="1800">
                <a:solidFill>
                  <a:srgbClr val="4A86E8"/>
                </a:solidFill>
                <a:latin typeface="Arial"/>
                <a:ea typeface="Arial"/>
                <a:cs typeface="Arial"/>
                <a:sym typeface="Arial"/>
              </a:rPr>
              <a:t> Decision Tree</a:t>
            </a:r>
            <a:r>
              <a:rPr lang="en-US" sz="1800">
                <a:latin typeface="Arial"/>
                <a:ea typeface="Arial"/>
                <a:cs typeface="Arial"/>
                <a:sym typeface="Arial"/>
              </a:rPr>
              <a:t> was selected.</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None/>
            </a:pPr>
            <a:r>
              <a:rPr lang="en-US" sz="1800">
                <a:latin typeface="Arial"/>
                <a:ea typeface="Arial"/>
                <a:cs typeface="Arial"/>
                <a:sym typeface="Arial"/>
              </a:rPr>
              <a:t>The Decision Tree had a balance of good accuracy, precision, and recall.</a:t>
            </a:r>
            <a:br>
              <a:rPr lang="en-US" sz="1800">
                <a:latin typeface="Arial"/>
                <a:ea typeface="Arial"/>
                <a:cs typeface="Arial"/>
                <a:sym typeface="Arial"/>
              </a:rPr>
            </a:br>
            <a:endParaRPr sz="1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US" sz="1800">
                <a:latin typeface="Arial"/>
                <a:ea typeface="Arial"/>
                <a:cs typeface="Arial"/>
                <a:sym typeface="Arial"/>
              </a:rPr>
              <a:t>Trade-offs - Decision Tree is faster but might overfit, while SVM is more complex but yields better results.</a:t>
            </a:r>
            <a:endParaRPr sz="1800">
              <a:latin typeface="Arial"/>
              <a:ea typeface="Arial"/>
              <a:cs typeface="Arial"/>
              <a:sym typeface="Arial"/>
            </a:endParaRPr>
          </a:p>
          <a:p>
            <a:pPr indent="0" lvl="0" marL="0" rtl="0" algn="l">
              <a:spcBef>
                <a:spcPts val="360"/>
              </a:spcBef>
              <a:spcAft>
                <a:spcPts val="0"/>
              </a:spcAft>
              <a:buNone/>
            </a:pPr>
            <a:r>
              <a:t/>
            </a:r>
            <a:endParaRPr sz="39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8"/>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Conclusion</a:t>
            </a:r>
            <a:endParaRPr/>
          </a:p>
        </p:txBody>
      </p:sp>
      <p:sp>
        <p:nvSpPr>
          <p:cNvPr id="437" name="Google Shape;437;p68"/>
          <p:cNvSpPr txBox="1"/>
          <p:nvPr>
            <p:ph idx="1" type="body"/>
          </p:nvPr>
        </p:nvSpPr>
        <p:spPr>
          <a:xfrm>
            <a:off x="414325" y="1503750"/>
            <a:ext cx="8229600" cy="4526100"/>
          </a:xfrm>
          <a:prstGeom prst="rect">
            <a:avLst/>
          </a:prstGeom>
        </p:spPr>
        <p:txBody>
          <a:bodyPr anchorCtr="0" anchor="t" bIns="45700" lIns="91425" spcFirstLastPara="1" rIns="91425" wrap="square" tIns="45700">
            <a:normAutofit fontScale="32500" lnSpcReduction="20000"/>
          </a:bodyPr>
          <a:lstStyle/>
          <a:p>
            <a:pPr indent="0" lvl="0" marL="0" rtl="0" algn="l">
              <a:lnSpc>
                <a:spcPct val="115000"/>
              </a:lnSpc>
              <a:spcBef>
                <a:spcPts val="1800"/>
              </a:spcBef>
              <a:spcAft>
                <a:spcPts val="0"/>
              </a:spcAft>
              <a:buClr>
                <a:schemeClr val="dk1"/>
              </a:buClr>
              <a:buSzPts val="358"/>
              <a:buFont typeface="Arial"/>
              <a:buNone/>
            </a:pPr>
            <a:r>
              <a:rPr lang="en-US" sz="5234">
                <a:latin typeface="Arial"/>
                <a:ea typeface="Arial"/>
                <a:cs typeface="Arial"/>
                <a:sym typeface="Arial"/>
              </a:rPr>
              <a:t>We successfully developed and evaluated multiple classification models to predict the target outcome with meaningful accuracy.</a:t>
            </a:r>
            <a:endParaRPr sz="5234">
              <a:latin typeface="Arial"/>
              <a:ea typeface="Arial"/>
              <a:cs typeface="Arial"/>
              <a:sym typeface="Arial"/>
            </a:endParaRPr>
          </a:p>
          <a:p>
            <a:pPr indent="0" lvl="0" marL="0" rtl="0" algn="l">
              <a:lnSpc>
                <a:spcPct val="115000"/>
              </a:lnSpc>
              <a:spcBef>
                <a:spcPts val="1800"/>
              </a:spcBef>
              <a:spcAft>
                <a:spcPts val="0"/>
              </a:spcAft>
              <a:buClr>
                <a:schemeClr val="dk1"/>
              </a:buClr>
              <a:buSzPts val="358"/>
              <a:buFont typeface="Arial"/>
              <a:buNone/>
            </a:pPr>
            <a:r>
              <a:rPr lang="en-US" sz="5234">
                <a:latin typeface="Arial"/>
                <a:ea typeface="Arial"/>
                <a:cs typeface="Arial"/>
                <a:sym typeface="Arial"/>
              </a:rPr>
              <a:t>🧪 </a:t>
            </a:r>
            <a:r>
              <a:rPr b="1" lang="en-US" sz="5234">
                <a:latin typeface="Arial"/>
                <a:ea typeface="Arial"/>
                <a:cs typeface="Arial"/>
                <a:sym typeface="Arial"/>
              </a:rPr>
              <a:t>Models Compared</a:t>
            </a:r>
            <a:endParaRPr b="1" sz="5234">
              <a:latin typeface="Arial"/>
              <a:ea typeface="Arial"/>
              <a:cs typeface="Arial"/>
              <a:sym typeface="Arial"/>
            </a:endParaRPr>
          </a:p>
          <a:p>
            <a:pPr indent="-336621" lvl="0" marL="457200" rtl="0" algn="l">
              <a:lnSpc>
                <a:spcPct val="115000"/>
              </a:lnSpc>
              <a:spcBef>
                <a:spcPts val="1800"/>
              </a:spcBef>
              <a:spcAft>
                <a:spcPts val="0"/>
              </a:spcAft>
              <a:buSzPct val="100000"/>
              <a:buChar char="●"/>
            </a:pPr>
            <a:r>
              <a:rPr lang="en-US" sz="5234">
                <a:latin typeface="Arial"/>
                <a:ea typeface="Arial"/>
                <a:cs typeface="Arial"/>
                <a:sym typeface="Arial"/>
              </a:rPr>
              <a:t>Logistic Regression</a:t>
            </a:r>
            <a:br>
              <a:rPr lang="en-US" sz="5234">
                <a:latin typeface="Arial"/>
                <a:ea typeface="Arial"/>
                <a:cs typeface="Arial"/>
                <a:sym typeface="Arial"/>
              </a:rPr>
            </a:br>
            <a:endParaRPr sz="5234">
              <a:latin typeface="Arial"/>
              <a:ea typeface="Arial"/>
              <a:cs typeface="Arial"/>
              <a:sym typeface="Arial"/>
            </a:endParaRPr>
          </a:p>
          <a:p>
            <a:pPr indent="-336621" lvl="0" marL="457200" rtl="0" algn="l">
              <a:lnSpc>
                <a:spcPct val="115000"/>
              </a:lnSpc>
              <a:spcBef>
                <a:spcPts val="0"/>
              </a:spcBef>
              <a:spcAft>
                <a:spcPts val="0"/>
              </a:spcAft>
              <a:buSzPct val="100000"/>
              <a:buChar char="●"/>
            </a:pPr>
            <a:r>
              <a:rPr lang="en-US" sz="5234">
                <a:latin typeface="Arial"/>
                <a:ea typeface="Arial"/>
                <a:cs typeface="Arial"/>
                <a:sym typeface="Arial"/>
              </a:rPr>
              <a:t>Support Vector Machine (SVM)</a:t>
            </a:r>
            <a:br>
              <a:rPr lang="en-US" sz="5234">
                <a:latin typeface="Arial"/>
                <a:ea typeface="Arial"/>
                <a:cs typeface="Arial"/>
                <a:sym typeface="Arial"/>
              </a:rPr>
            </a:br>
            <a:endParaRPr sz="5234">
              <a:latin typeface="Arial"/>
              <a:ea typeface="Arial"/>
              <a:cs typeface="Arial"/>
              <a:sym typeface="Arial"/>
            </a:endParaRPr>
          </a:p>
          <a:p>
            <a:pPr indent="-336621" lvl="0" marL="457200" rtl="0" algn="l">
              <a:lnSpc>
                <a:spcPct val="115000"/>
              </a:lnSpc>
              <a:spcBef>
                <a:spcPts val="0"/>
              </a:spcBef>
              <a:spcAft>
                <a:spcPts val="0"/>
              </a:spcAft>
              <a:buSzPct val="100000"/>
              <a:buChar char="●"/>
            </a:pPr>
            <a:r>
              <a:rPr lang="en-US" sz="5234">
                <a:latin typeface="Arial"/>
                <a:ea typeface="Arial"/>
                <a:cs typeface="Arial"/>
                <a:sym typeface="Arial"/>
              </a:rPr>
              <a:t>Decision Tree</a:t>
            </a:r>
            <a:br>
              <a:rPr lang="en-US" sz="5234">
                <a:latin typeface="Arial"/>
                <a:ea typeface="Arial"/>
                <a:cs typeface="Arial"/>
                <a:sym typeface="Arial"/>
              </a:rPr>
            </a:br>
            <a:endParaRPr sz="5234">
              <a:latin typeface="Arial"/>
              <a:ea typeface="Arial"/>
              <a:cs typeface="Arial"/>
              <a:sym typeface="Arial"/>
            </a:endParaRPr>
          </a:p>
          <a:p>
            <a:pPr indent="-336621" lvl="0" marL="457200" rtl="0" algn="l">
              <a:lnSpc>
                <a:spcPct val="115000"/>
              </a:lnSpc>
              <a:spcBef>
                <a:spcPts val="0"/>
              </a:spcBef>
              <a:spcAft>
                <a:spcPts val="0"/>
              </a:spcAft>
              <a:buSzPct val="100000"/>
              <a:buChar char="●"/>
            </a:pPr>
            <a:r>
              <a:rPr lang="en-US" sz="5234">
                <a:latin typeface="Arial"/>
                <a:ea typeface="Arial"/>
                <a:cs typeface="Arial"/>
                <a:sym typeface="Arial"/>
              </a:rPr>
              <a:t>K-Nearest Neighbors (KNN)</a:t>
            </a:r>
            <a:endParaRPr sz="5234">
              <a:latin typeface="Arial"/>
              <a:ea typeface="Arial"/>
              <a:cs typeface="Arial"/>
              <a:sym typeface="Arial"/>
            </a:endParaRPr>
          </a:p>
          <a:p>
            <a:pPr indent="0" lvl="0" marL="0" rtl="0" algn="l">
              <a:lnSpc>
                <a:spcPct val="115000"/>
              </a:lnSpc>
              <a:spcBef>
                <a:spcPts val="1800"/>
              </a:spcBef>
              <a:spcAft>
                <a:spcPts val="0"/>
              </a:spcAft>
              <a:buNone/>
            </a:pPr>
            <a:r>
              <a:rPr b="1" lang="en-US" sz="4757">
                <a:latin typeface="Arial"/>
                <a:ea typeface="Arial"/>
                <a:cs typeface="Arial"/>
                <a:sym typeface="Arial"/>
              </a:rPr>
              <a:t>Best Performing Model</a:t>
            </a:r>
            <a:endParaRPr b="1" sz="4757">
              <a:latin typeface="Arial"/>
              <a:ea typeface="Arial"/>
              <a:cs typeface="Arial"/>
              <a:sym typeface="Arial"/>
            </a:endParaRPr>
          </a:p>
          <a:p>
            <a:pPr indent="0" lvl="0" marL="381000" marR="381000" rtl="0" algn="l">
              <a:lnSpc>
                <a:spcPct val="115000"/>
              </a:lnSpc>
              <a:spcBef>
                <a:spcPts val="1800"/>
              </a:spcBef>
              <a:spcAft>
                <a:spcPts val="0"/>
              </a:spcAft>
              <a:buNone/>
            </a:pPr>
            <a:r>
              <a:rPr b="1" lang="en-US" sz="4757">
                <a:latin typeface="Arial"/>
                <a:ea typeface="Arial"/>
                <a:cs typeface="Arial"/>
                <a:sym typeface="Arial"/>
              </a:rPr>
              <a:t>Decision Tree </a:t>
            </a:r>
            <a:r>
              <a:rPr lang="en-US" sz="4757">
                <a:latin typeface="Arial"/>
                <a:ea typeface="Arial"/>
                <a:cs typeface="Arial"/>
                <a:sym typeface="Arial"/>
              </a:rPr>
              <a:t>showed the highest accuracy and balanced performance across precision and recall, as shown by the confusion matrix.</a:t>
            </a:r>
            <a:endParaRPr sz="4757">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Conclusion  (continued)</a:t>
            </a:r>
            <a:endParaRPr/>
          </a:p>
        </p:txBody>
      </p:sp>
      <p:sp>
        <p:nvSpPr>
          <p:cNvPr id="443" name="Google Shape;443;p69"/>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Insights Gained</a:t>
            </a:r>
            <a:endParaRPr b="1" sz="1700">
              <a:latin typeface="Arial"/>
              <a:ea typeface="Arial"/>
              <a:cs typeface="Arial"/>
              <a:sym typeface="Arial"/>
            </a:endParaRPr>
          </a:p>
          <a:p>
            <a:pPr indent="-336550" lvl="0" marL="457200" rtl="0" algn="l">
              <a:lnSpc>
                <a:spcPct val="115000"/>
              </a:lnSpc>
              <a:spcBef>
                <a:spcPts val="1800"/>
              </a:spcBef>
              <a:spcAft>
                <a:spcPts val="0"/>
              </a:spcAft>
              <a:buSzPts val="1700"/>
              <a:buChar char="●"/>
            </a:pPr>
            <a:r>
              <a:rPr lang="en-US" sz="1700">
                <a:latin typeface="Arial"/>
                <a:ea typeface="Arial"/>
                <a:cs typeface="Arial"/>
                <a:sym typeface="Arial"/>
              </a:rPr>
              <a:t>Feature importance and preprocessing had a notable effect on model performance.</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Hyperparameter tuning (e.g., GridSearchCV) helped optimize model accuracy.</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Confusion matrices helped identify where misclassifications occurred and what types of errors are most common.</a:t>
            </a:r>
            <a:endParaRPr sz="1700">
              <a:latin typeface="Arial"/>
              <a:ea typeface="Arial"/>
              <a:cs typeface="Arial"/>
              <a:sym typeface="Arial"/>
            </a:endParaRPr>
          </a:p>
          <a:p>
            <a:pPr indent="0" lvl="0" marL="0" rtl="0" algn="l">
              <a:lnSpc>
                <a:spcPct val="115000"/>
              </a:lnSpc>
              <a:spcBef>
                <a:spcPts val="1800"/>
              </a:spcBef>
              <a:spcAft>
                <a:spcPts val="0"/>
              </a:spcAft>
              <a:buNone/>
            </a:pPr>
            <a:r>
              <a:rPr b="1" lang="en-US" sz="1700">
                <a:latin typeface="Arial"/>
                <a:ea typeface="Arial"/>
                <a:cs typeface="Arial"/>
                <a:sym typeface="Arial"/>
              </a:rPr>
              <a:t>Limitations</a:t>
            </a:r>
            <a:endParaRPr b="1" sz="1700">
              <a:latin typeface="Arial"/>
              <a:ea typeface="Arial"/>
              <a:cs typeface="Arial"/>
              <a:sym typeface="Arial"/>
            </a:endParaRPr>
          </a:p>
          <a:p>
            <a:pPr indent="-336550" lvl="0" marL="457200" rtl="0" algn="l">
              <a:lnSpc>
                <a:spcPct val="115000"/>
              </a:lnSpc>
              <a:spcBef>
                <a:spcPts val="1800"/>
              </a:spcBef>
              <a:spcAft>
                <a:spcPts val="0"/>
              </a:spcAft>
              <a:buSzPts val="1700"/>
              <a:buChar char="●"/>
            </a:pPr>
            <a:r>
              <a:rPr lang="en-US" sz="1700">
                <a:latin typeface="Arial"/>
                <a:ea typeface="Arial"/>
                <a:cs typeface="Arial"/>
                <a:sym typeface="Arial"/>
              </a:rPr>
              <a:t>Model accuracy may vary with different or unseen data.</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More data or feature engineering could improve performance further.</a:t>
            </a:r>
            <a:endParaRPr sz="17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Business Impact</a:t>
            </a:r>
            <a:endParaRPr/>
          </a:p>
        </p:txBody>
      </p:sp>
      <p:sp>
        <p:nvSpPr>
          <p:cNvPr id="449" name="Google Shape;449;p7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500">
                <a:latin typeface="Arial"/>
                <a:ea typeface="Arial"/>
                <a:cs typeface="Arial"/>
                <a:sym typeface="Arial"/>
              </a:rPr>
              <a:t>💼 How SpaceX or Other Agencies Can Use This</a:t>
            </a:r>
            <a:endParaRPr b="1" sz="1500">
              <a:latin typeface="Arial"/>
              <a:ea typeface="Arial"/>
              <a:cs typeface="Arial"/>
              <a:sym typeface="Arial"/>
            </a:endParaRPr>
          </a:p>
          <a:p>
            <a:pPr indent="-323850" lvl="0" marL="457200" rtl="0" algn="l">
              <a:lnSpc>
                <a:spcPct val="115000"/>
              </a:lnSpc>
              <a:spcBef>
                <a:spcPts val="1800"/>
              </a:spcBef>
              <a:spcAft>
                <a:spcPts val="0"/>
              </a:spcAft>
              <a:buSzPts val="1500"/>
              <a:buChar char="●"/>
            </a:pPr>
            <a:r>
              <a:rPr lang="en-US" sz="1500">
                <a:latin typeface="Arial"/>
                <a:ea typeface="Arial"/>
                <a:cs typeface="Arial"/>
                <a:sym typeface="Arial"/>
              </a:rPr>
              <a:t>Integrate predictive models into launch planning systems.</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Improve go/no-go decision-making using real-time success probabilities.</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Optimize scheduling across multiple launch sites and mission profiles.</a:t>
            </a:r>
            <a:br>
              <a:rPr lang="en-US" sz="1500">
                <a:latin typeface="Arial"/>
                <a:ea typeface="Arial"/>
                <a:cs typeface="Arial"/>
                <a:sym typeface="Arial"/>
              </a:rPr>
            </a:br>
            <a:endParaRPr sz="15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500">
                <a:latin typeface="Arial"/>
                <a:ea typeface="Arial"/>
                <a:cs typeface="Arial"/>
                <a:sym typeface="Arial"/>
              </a:rPr>
              <a:t>💰 Potential Cost/Time Savings</a:t>
            </a:r>
            <a:endParaRPr b="1" sz="1500">
              <a:latin typeface="Arial"/>
              <a:ea typeface="Arial"/>
              <a:cs typeface="Arial"/>
              <a:sym typeface="Arial"/>
            </a:endParaRPr>
          </a:p>
          <a:p>
            <a:pPr indent="-323850" lvl="0" marL="457200" rtl="0" algn="l">
              <a:lnSpc>
                <a:spcPct val="115000"/>
              </a:lnSpc>
              <a:spcBef>
                <a:spcPts val="1800"/>
              </a:spcBef>
              <a:spcAft>
                <a:spcPts val="0"/>
              </a:spcAft>
              <a:buSzPts val="1500"/>
              <a:buChar char="●"/>
            </a:pPr>
            <a:r>
              <a:rPr lang="en-US" sz="1500">
                <a:latin typeface="Arial"/>
                <a:ea typeface="Arial"/>
                <a:cs typeface="Arial"/>
                <a:sym typeface="Arial"/>
              </a:rPr>
              <a:t>Reduce scrubbed or delayed launches due to suboptimal launch conditions.</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Lower operational costs through better resource and crew allocation.</a:t>
            </a:r>
            <a:br>
              <a:rPr lang="en-US" sz="1500">
                <a:latin typeface="Arial"/>
                <a:ea typeface="Arial"/>
                <a:cs typeface="Arial"/>
                <a:sym typeface="Arial"/>
              </a:rPr>
            </a:b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Increase launch cadence and reliability, enhancing customer satisfaction.</a:t>
            </a:r>
            <a:endParaRPr sz="1500">
              <a:latin typeface="Arial"/>
              <a:ea typeface="Arial"/>
              <a:cs typeface="Arial"/>
              <a:sym typeface="Arial"/>
            </a:endParaRPr>
          </a:p>
          <a:p>
            <a:pPr indent="0" lvl="0" marL="0" rtl="0" algn="l">
              <a:lnSpc>
                <a:spcPct val="115000"/>
              </a:lnSpc>
              <a:spcBef>
                <a:spcPts val="1800"/>
              </a:spcBef>
              <a:spcAft>
                <a:spcPts val="0"/>
              </a:spcAft>
              <a:buNone/>
            </a:pPr>
            <a:r>
              <a:t/>
            </a:r>
            <a:endParaRPr b="1" sz="1500">
              <a:latin typeface="Arial"/>
              <a:ea typeface="Arial"/>
              <a:cs typeface="Arial"/>
              <a:sym typeface="Arial"/>
            </a:endParaRPr>
          </a:p>
          <a:p>
            <a:pPr indent="0" lvl="0" marL="0" rtl="0" algn="l">
              <a:lnSpc>
                <a:spcPct val="115000"/>
              </a:lnSpc>
              <a:spcBef>
                <a:spcPts val="1800"/>
              </a:spcBef>
              <a:spcAft>
                <a:spcPts val="1800"/>
              </a:spcAft>
              <a:buNone/>
            </a:pPr>
            <a:r>
              <a:t/>
            </a:r>
            <a:endParaRPr b="1" sz="1100">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71"/>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lang="en-US" sz="3759"/>
              <a:t>Future Innovation Project # 1 for Space X Data Science</a:t>
            </a:r>
            <a:endParaRPr sz="3759"/>
          </a:p>
        </p:txBody>
      </p:sp>
      <p:sp>
        <p:nvSpPr>
          <p:cNvPr id="455" name="Google Shape;455;p71"/>
          <p:cNvSpPr txBox="1"/>
          <p:nvPr>
            <p:ph idx="1" type="body"/>
          </p:nvPr>
        </p:nvSpPr>
        <p:spPr>
          <a:xfrm>
            <a:off x="457200" y="1466925"/>
            <a:ext cx="8229600" cy="4526100"/>
          </a:xfrm>
          <a:prstGeom prst="rect">
            <a:avLst/>
          </a:prstGeom>
        </p:spPr>
        <p:txBody>
          <a:bodyPr anchorCtr="0" anchor="t" bIns="45700" lIns="91425" spcFirstLastPara="1" rIns="91425" wrap="square" tIns="45700">
            <a:normAutofit fontScale="25000" lnSpcReduction="20000"/>
          </a:bodyPr>
          <a:lstStyle/>
          <a:p>
            <a:pPr indent="0" lvl="0" marL="0" rtl="0" algn="l">
              <a:lnSpc>
                <a:spcPct val="115000"/>
              </a:lnSpc>
              <a:spcBef>
                <a:spcPts val="1800"/>
              </a:spcBef>
              <a:spcAft>
                <a:spcPts val="0"/>
              </a:spcAft>
              <a:buNone/>
            </a:pPr>
            <a:r>
              <a:rPr b="1" lang="en-US" sz="7297">
                <a:latin typeface="Arial"/>
                <a:ea typeface="Arial"/>
                <a:cs typeface="Arial"/>
                <a:sym typeface="Arial"/>
              </a:rPr>
              <a:t>Launch Scheduling Optimization</a:t>
            </a:r>
            <a:endParaRPr b="1" sz="7297">
              <a:latin typeface="Arial"/>
              <a:ea typeface="Arial"/>
              <a:cs typeface="Arial"/>
              <a:sym typeface="Arial"/>
            </a:endParaRPr>
          </a:p>
          <a:p>
            <a:pPr indent="0" lvl="0" marL="0" rtl="0" algn="l">
              <a:lnSpc>
                <a:spcPct val="115000"/>
              </a:lnSpc>
              <a:spcBef>
                <a:spcPts val="1800"/>
              </a:spcBef>
              <a:spcAft>
                <a:spcPts val="0"/>
              </a:spcAft>
              <a:buClr>
                <a:schemeClr val="dk1"/>
              </a:buClr>
              <a:buSzPts val="275"/>
              <a:buFont typeface="Arial"/>
              <a:buNone/>
            </a:pPr>
            <a:r>
              <a:rPr lang="en-US" sz="7040">
                <a:latin typeface="Arial"/>
                <a:ea typeface="Arial"/>
                <a:cs typeface="Arial"/>
                <a:sym typeface="Arial"/>
              </a:rPr>
              <a:t>Create a machine learning model that predicts the optimal launch window based on:</a:t>
            </a:r>
            <a:endParaRPr sz="7040">
              <a:latin typeface="Arial"/>
              <a:ea typeface="Arial"/>
              <a:cs typeface="Arial"/>
              <a:sym typeface="Arial"/>
            </a:endParaRPr>
          </a:p>
          <a:p>
            <a:pPr indent="-340373" lvl="0" marL="457200" rtl="0" algn="l">
              <a:lnSpc>
                <a:spcPct val="115000"/>
              </a:lnSpc>
              <a:spcBef>
                <a:spcPts val="1800"/>
              </a:spcBef>
              <a:spcAft>
                <a:spcPts val="0"/>
              </a:spcAft>
              <a:buSzPct val="100000"/>
              <a:buChar char="●"/>
            </a:pPr>
            <a:r>
              <a:rPr lang="en-US" sz="7040">
                <a:latin typeface="Arial"/>
                <a:ea typeface="Arial"/>
                <a:cs typeface="Arial"/>
                <a:sym typeface="Arial"/>
              </a:rPr>
              <a:t>Historical weather data</a:t>
            </a:r>
            <a:br>
              <a:rPr lang="en-US" sz="7040">
                <a:latin typeface="Arial"/>
                <a:ea typeface="Arial"/>
                <a:cs typeface="Arial"/>
                <a:sym typeface="Arial"/>
              </a:rPr>
            </a:br>
            <a:endParaRPr sz="7040">
              <a:latin typeface="Arial"/>
              <a:ea typeface="Arial"/>
              <a:cs typeface="Arial"/>
              <a:sym typeface="Arial"/>
            </a:endParaRPr>
          </a:p>
          <a:p>
            <a:pPr indent="-340373" lvl="0" marL="457200" rtl="0" algn="l">
              <a:lnSpc>
                <a:spcPct val="115000"/>
              </a:lnSpc>
              <a:spcBef>
                <a:spcPts val="0"/>
              </a:spcBef>
              <a:spcAft>
                <a:spcPts val="0"/>
              </a:spcAft>
              <a:buSzPct val="100000"/>
              <a:buChar char="●"/>
            </a:pPr>
            <a:r>
              <a:rPr lang="en-US" sz="7040">
                <a:latin typeface="Arial"/>
                <a:ea typeface="Arial"/>
                <a:cs typeface="Arial"/>
                <a:sym typeface="Arial"/>
              </a:rPr>
              <a:t>Air traffic</a:t>
            </a:r>
            <a:br>
              <a:rPr lang="en-US" sz="7040">
                <a:latin typeface="Arial"/>
                <a:ea typeface="Arial"/>
                <a:cs typeface="Arial"/>
                <a:sym typeface="Arial"/>
              </a:rPr>
            </a:br>
            <a:endParaRPr sz="7040">
              <a:latin typeface="Arial"/>
              <a:ea typeface="Arial"/>
              <a:cs typeface="Arial"/>
              <a:sym typeface="Arial"/>
            </a:endParaRPr>
          </a:p>
          <a:p>
            <a:pPr indent="-340373" lvl="0" marL="457200" rtl="0" algn="l">
              <a:lnSpc>
                <a:spcPct val="115000"/>
              </a:lnSpc>
              <a:spcBef>
                <a:spcPts val="0"/>
              </a:spcBef>
              <a:spcAft>
                <a:spcPts val="0"/>
              </a:spcAft>
              <a:buSzPct val="100000"/>
              <a:buChar char="●"/>
            </a:pPr>
            <a:r>
              <a:rPr lang="en-US" sz="7040">
                <a:latin typeface="Arial"/>
                <a:ea typeface="Arial"/>
                <a:cs typeface="Arial"/>
                <a:sym typeface="Arial"/>
              </a:rPr>
              <a:t>Orbital mechanics</a:t>
            </a:r>
            <a:br>
              <a:rPr lang="en-US" sz="7040">
                <a:latin typeface="Arial"/>
                <a:ea typeface="Arial"/>
                <a:cs typeface="Arial"/>
                <a:sym typeface="Arial"/>
              </a:rPr>
            </a:br>
            <a:endParaRPr sz="7040">
              <a:latin typeface="Arial"/>
              <a:ea typeface="Arial"/>
              <a:cs typeface="Arial"/>
              <a:sym typeface="Arial"/>
            </a:endParaRPr>
          </a:p>
          <a:p>
            <a:pPr indent="-340373" lvl="0" marL="457200" rtl="0" algn="l">
              <a:lnSpc>
                <a:spcPct val="115000"/>
              </a:lnSpc>
              <a:spcBef>
                <a:spcPts val="0"/>
              </a:spcBef>
              <a:spcAft>
                <a:spcPts val="0"/>
              </a:spcAft>
              <a:buSzPct val="100000"/>
              <a:buChar char="●"/>
            </a:pPr>
            <a:r>
              <a:rPr lang="en-US" sz="7040">
                <a:latin typeface="Arial"/>
                <a:ea typeface="Arial"/>
                <a:cs typeface="Arial"/>
                <a:sym typeface="Arial"/>
              </a:rPr>
              <a:t>Rocket readiness</a:t>
            </a:r>
            <a:endParaRPr sz="7040">
              <a:latin typeface="Arial"/>
              <a:ea typeface="Arial"/>
              <a:cs typeface="Arial"/>
              <a:sym typeface="Arial"/>
            </a:endParaRPr>
          </a:p>
          <a:p>
            <a:pPr indent="0" lvl="0" marL="457200" rtl="0" algn="l">
              <a:lnSpc>
                <a:spcPct val="115000"/>
              </a:lnSpc>
              <a:spcBef>
                <a:spcPts val="1800"/>
              </a:spcBef>
              <a:spcAft>
                <a:spcPts val="0"/>
              </a:spcAft>
              <a:buNone/>
            </a:pPr>
            <a:br>
              <a:rPr lang="en-US" sz="7040">
                <a:latin typeface="Arial"/>
                <a:ea typeface="Arial"/>
                <a:cs typeface="Arial"/>
                <a:sym typeface="Arial"/>
              </a:rPr>
            </a:br>
            <a:r>
              <a:rPr lang="en-US" sz="7040">
                <a:latin typeface="Arial"/>
                <a:ea typeface="Arial"/>
                <a:cs typeface="Arial"/>
                <a:sym typeface="Arial"/>
              </a:rPr>
              <a:t> </a:t>
            </a:r>
            <a:r>
              <a:rPr b="1" lang="en-US" sz="7040">
                <a:latin typeface="Arial"/>
                <a:ea typeface="Arial"/>
                <a:cs typeface="Arial"/>
                <a:sym typeface="Arial"/>
              </a:rPr>
              <a:t>Methods</a:t>
            </a:r>
            <a:r>
              <a:rPr lang="en-US" sz="7040">
                <a:latin typeface="Arial"/>
                <a:ea typeface="Arial"/>
                <a:cs typeface="Arial"/>
                <a:sym typeface="Arial"/>
              </a:rPr>
              <a:t>: Gradient boosting, constraint optimization, Bayesian scheduling</a:t>
            </a:r>
            <a:br>
              <a:rPr lang="en-US" sz="7040">
                <a:latin typeface="Arial"/>
                <a:ea typeface="Arial"/>
                <a:cs typeface="Arial"/>
                <a:sym typeface="Arial"/>
              </a:rPr>
            </a:br>
            <a:r>
              <a:rPr lang="en-US" sz="7040">
                <a:latin typeface="Arial"/>
                <a:ea typeface="Arial"/>
                <a:cs typeface="Arial"/>
                <a:sym typeface="Arial"/>
              </a:rPr>
              <a:t> </a:t>
            </a:r>
            <a:r>
              <a:rPr b="1" lang="en-US" sz="7040">
                <a:latin typeface="Arial"/>
                <a:ea typeface="Arial"/>
                <a:cs typeface="Arial"/>
                <a:sym typeface="Arial"/>
              </a:rPr>
              <a:t>Impact</a:t>
            </a:r>
            <a:r>
              <a:rPr lang="en-US" sz="7040">
                <a:latin typeface="Arial"/>
                <a:ea typeface="Arial"/>
                <a:cs typeface="Arial"/>
                <a:sym typeface="Arial"/>
              </a:rPr>
              <a:t>: Reduces delays and improves resource allocation.</a:t>
            </a:r>
            <a:endParaRPr sz="7040">
              <a:latin typeface="Arial"/>
              <a:ea typeface="Arial"/>
              <a:cs typeface="Arial"/>
              <a:sym typeface="Arial"/>
            </a:endParaRPr>
          </a:p>
          <a:p>
            <a:pPr indent="0" lvl="0" marL="0" rtl="0" algn="l">
              <a:lnSpc>
                <a:spcPct val="115000"/>
              </a:lnSpc>
              <a:spcBef>
                <a:spcPts val="1800"/>
              </a:spcBef>
              <a:spcAft>
                <a:spcPts val="0"/>
              </a:spcAft>
              <a:buNone/>
            </a:pPr>
            <a:r>
              <a:t/>
            </a:r>
            <a:endParaRPr sz="2543">
              <a:latin typeface="Arial"/>
              <a:ea typeface="Arial"/>
              <a:cs typeface="Arial"/>
              <a:sym typeface="Arial"/>
            </a:endParaRPr>
          </a:p>
          <a:p>
            <a:pPr indent="0" lvl="0" marL="0" rtl="0" algn="l">
              <a:lnSpc>
                <a:spcPct val="115000"/>
              </a:lnSpc>
              <a:spcBef>
                <a:spcPts val="1800"/>
              </a:spcBef>
              <a:spcAft>
                <a:spcPts val="0"/>
              </a:spcAft>
              <a:buNone/>
            </a:pPr>
            <a:r>
              <a:t/>
            </a:r>
            <a:endParaRPr sz="18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2"/>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990"/>
              <a:buFont typeface="Arial"/>
              <a:buNone/>
            </a:pPr>
            <a:r>
              <a:rPr lang="en-US" sz="2860"/>
              <a:t>Future Innovation Project #2 for Space X Data Science</a:t>
            </a:r>
            <a:endParaRPr sz="2860"/>
          </a:p>
          <a:p>
            <a:pPr indent="0" lvl="0" marL="0" rtl="0" algn="ctr">
              <a:spcBef>
                <a:spcPts val="0"/>
              </a:spcBef>
              <a:spcAft>
                <a:spcPts val="0"/>
              </a:spcAft>
              <a:buSzPts val="990"/>
              <a:buNone/>
            </a:pPr>
            <a:r>
              <a:t/>
            </a:r>
            <a:endParaRPr sz="3959"/>
          </a:p>
        </p:txBody>
      </p:sp>
      <p:sp>
        <p:nvSpPr>
          <p:cNvPr id="461" name="Google Shape;461;p72"/>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95000"/>
              </a:lnSpc>
              <a:spcBef>
                <a:spcPts val="1400"/>
              </a:spcBef>
              <a:spcAft>
                <a:spcPts val="0"/>
              </a:spcAft>
              <a:buClr>
                <a:schemeClr val="dk1"/>
              </a:buClr>
              <a:buSzPts val="935"/>
              <a:buFont typeface="Arial"/>
              <a:buNone/>
            </a:pPr>
            <a:r>
              <a:rPr b="1" lang="en-US" sz="1900">
                <a:latin typeface="Arial"/>
                <a:ea typeface="Arial"/>
                <a:cs typeface="Arial"/>
                <a:sym typeface="Arial"/>
              </a:rPr>
              <a:t>Falcon Launch Telemetry Anomaly Detection</a:t>
            </a:r>
            <a:endParaRPr b="1" sz="1900">
              <a:latin typeface="Arial"/>
              <a:ea typeface="Arial"/>
              <a:cs typeface="Arial"/>
              <a:sym typeface="Arial"/>
            </a:endParaRPr>
          </a:p>
          <a:p>
            <a:pPr indent="0" lvl="0" marL="0" rtl="0" algn="l">
              <a:lnSpc>
                <a:spcPct val="95000"/>
              </a:lnSpc>
              <a:spcBef>
                <a:spcPts val="1800"/>
              </a:spcBef>
              <a:spcAft>
                <a:spcPts val="0"/>
              </a:spcAft>
              <a:buSzPts val="935"/>
              <a:buNone/>
            </a:pPr>
            <a:r>
              <a:rPr lang="en-US" sz="1729">
                <a:latin typeface="Arial"/>
                <a:ea typeface="Arial"/>
                <a:cs typeface="Arial"/>
                <a:sym typeface="Arial"/>
              </a:rPr>
              <a:t>Build a real-time anomaly detection system using telemetry data (temperature, pressure, vibration, etc.) from Falcon rocket launches.</a:t>
            </a:r>
            <a:endParaRPr sz="1729">
              <a:latin typeface="Arial"/>
              <a:ea typeface="Arial"/>
              <a:cs typeface="Arial"/>
              <a:sym typeface="Arial"/>
            </a:endParaRPr>
          </a:p>
          <a:p>
            <a:pPr indent="0" lvl="0" marL="0" rtl="0" algn="l">
              <a:lnSpc>
                <a:spcPct val="95000"/>
              </a:lnSpc>
              <a:spcBef>
                <a:spcPts val="1800"/>
              </a:spcBef>
              <a:spcAft>
                <a:spcPts val="0"/>
              </a:spcAft>
              <a:buClr>
                <a:schemeClr val="dk1"/>
              </a:buClr>
              <a:buSzPts val="935"/>
              <a:buFont typeface="Arial"/>
              <a:buNone/>
            </a:pPr>
            <a:br>
              <a:rPr lang="en-US" sz="1729">
                <a:latin typeface="Arial"/>
                <a:ea typeface="Arial"/>
                <a:cs typeface="Arial"/>
                <a:sym typeface="Arial"/>
              </a:rPr>
            </a:br>
            <a:r>
              <a:rPr lang="en-US" sz="1729">
                <a:latin typeface="Arial"/>
                <a:ea typeface="Arial"/>
                <a:cs typeface="Arial"/>
                <a:sym typeface="Arial"/>
              </a:rPr>
              <a:t> </a:t>
            </a:r>
            <a:r>
              <a:rPr b="1" lang="en-US" sz="1729">
                <a:latin typeface="Arial"/>
                <a:ea typeface="Arial"/>
                <a:cs typeface="Arial"/>
                <a:sym typeface="Arial"/>
              </a:rPr>
              <a:t>Tech stack</a:t>
            </a:r>
            <a:r>
              <a:rPr lang="en-US" sz="1729">
                <a:latin typeface="Arial"/>
                <a:ea typeface="Arial"/>
                <a:cs typeface="Arial"/>
                <a:sym typeface="Arial"/>
              </a:rPr>
              <a:t>:</a:t>
            </a:r>
            <a:endParaRPr sz="1729">
              <a:latin typeface="Arial"/>
              <a:ea typeface="Arial"/>
              <a:cs typeface="Arial"/>
              <a:sym typeface="Arial"/>
            </a:endParaRPr>
          </a:p>
          <a:p>
            <a:pPr indent="-338455" lvl="0" marL="457200" rtl="0" algn="l">
              <a:lnSpc>
                <a:spcPct val="95000"/>
              </a:lnSpc>
              <a:spcBef>
                <a:spcPts val="1800"/>
              </a:spcBef>
              <a:spcAft>
                <a:spcPts val="0"/>
              </a:spcAft>
              <a:buSzPts val="1730"/>
              <a:buChar char="●"/>
            </a:pPr>
            <a:r>
              <a:rPr lang="en-US" sz="1729">
                <a:latin typeface="Arial"/>
                <a:ea typeface="Arial"/>
                <a:cs typeface="Arial"/>
                <a:sym typeface="Arial"/>
              </a:rPr>
              <a:t>Time-series analysis (e.g., LSTM, Prophet)</a:t>
            </a:r>
            <a:br>
              <a:rPr lang="en-US" sz="1729">
                <a:latin typeface="Arial"/>
                <a:ea typeface="Arial"/>
                <a:cs typeface="Arial"/>
                <a:sym typeface="Arial"/>
              </a:rPr>
            </a:br>
            <a:endParaRPr sz="1729">
              <a:latin typeface="Arial"/>
              <a:ea typeface="Arial"/>
              <a:cs typeface="Arial"/>
              <a:sym typeface="Arial"/>
            </a:endParaRPr>
          </a:p>
          <a:p>
            <a:pPr indent="-338455" lvl="0" marL="457200" rtl="0" algn="l">
              <a:lnSpc>
                <a:spcPct val="95000"/>
              </a:lnSpc>
              <a:spcBef>
                <a:spcPts val="0"/>
              </a:spcBef>
              <a:spcAft>
                <a:spcPts val="0"/>
              </a:spcAft>
              <a:buSzPts val="1730"/>
              <a:buChar char="●"/>
            </a:pPr>
            <a:r>
              <a:rPr lang="en-US" sz="1729">
                <a:latin typeface="Arial"/>
                <a:ea typeface="Arial"/>
                <a:cs typeface="Arial"/>
                <a:sym typeface="Arial"/>
              </a:rPr>
              <a:t>Autoencoders for anomaly detection</a:t>
            </a:r>
            <a:br>
              <a:rPr lang="en-US" sz="1729">
                <a:latin typeface="Arial"/>
                <a:ea typeface="Arial"/>
                <a:cs typeface="Arial"/>
                <a:sym typeface="Arial"/>
              </a:rPr>
            </a:br>
            <a:endParaRPr sz="1729">
              <a:latin typeface="Arial"/>
              <a:ea typeface="Arial"/>
              <a:cs typeface="Arial"/>
              <a:sym typeface="Arial"/>
            </a:endParaRPr>
          </a:p>
          <a:p>
            <a:pPr indent="-338455" lvl="0" marL="457200" rtl="0" algn="l">
              <a:lnSpc>
                <a:spcPct val="95000"/>
              </a:lnSpc>
              <a:spcBef>
                <a:spcPts val="0"/>
              </a:spcBef>
              <a:spcAft>
                <a:spcPts val="0"/>
              </a:spcAft>
              <a:buSzPts val="1730"/>
              <a:buChar char="●"/>
            </a:pPr>
            <a:r>
              <a:rPr lang="en-US" sz="1729">
                <a:latin typeface="Arial"/>
                <a:ea typeface="Arial"/>
                <a:cs typeface="Arial"/>
                <a:sym typeface="Arial"/>
              </a:rPr>
              <a:t>Kafka/Spark for real-time streaming</a:t>
            </a:r>
            <a:endParaRPr sz="1729">
              <a:latin typeface="Arial"/>
              <a:ea typeface="Arial"/>
              <a:cs typeface="Arial"/>
              <a:sym typeface="Arial"/>
            </a:endParaRPr>
          </a:p>
          <a:p>
            <a:pPr indent="0" lvl="0" marL="0" rtl="0" algn="l">
              <a:lnSpc>
                <a:spcPct val="95000"/>
              </a:lnSpc>
              <a:spcBef>
                <a:spcPts val="1800"/>
              </a:spcBef>
              <a:spcAft>
                <a:spcPts val="0"/>
              </a:spcAft>
              <a:buNone/>
            </a:pPr>
            <a:r>
              <a:rPr lang="en-US" sz="1729">
                <a:latin typeface="Arial"/>
                <a:ea typeface="Arial"/>
                <a:cs typeface="Arial"/>
                <a:sym typeface="Arial"/>
              </a:rPr>
              <a:t> </a:t>
            </a:r>
            <a:r>
              <a:rPr b="1" lang="en-US" sz="1729">
                <a:latin typeface="Arial"/>
                <a:ea typeface="Arial"/>
                <a:cs typeface="Arial"/>
                <a:sym typeface="Arial"/>
              </a:rPr>
              <a:t>Innovation</a:t>
            </a:r>
            <a:r>
              <a:rPr lang="en-US" sz="1729">
                <a:latin typeface="Arial"/>
                <a:ea typeface="Arial"/>
                <a:cs typeface="Arial"/>
                <a:sym typeface="Arial"/>
              </a:rPr>
              <a:t>: Preventing failures pre-launch or mid-flight through predictive alerting.</a:t>
            </a:r>
            <a:endParaRPr sz="1729">
              <a:latin typeface="Arial"/>
              <a:ea typeface="Arial"/>
              <a:cs typeface="Arial"/>
              <a:sym typeface="Arial"/>
            </a:endParaRPr>
          </a:p>
          <a:p>
            <a:pPr indent="0" lvl="0" marL="0" rtl="0" algn="l">
              <a:lnSpc>
                <a:spcPct val="80000"/>
              </a:lnSpc>
              <a:spcBef>
                <a:spcPts val="1800"/>
              </a:spcBef>
              <a:spcAft>
                <a:spcPts val="0"/>
              </a:spcAft>
              <a:buSzPts val="935"/>
              <a:buNone/>
            </a:pPr>
            <a:r>
              <a:t/>
            </a:r>
            <a:endParaRPr sz="292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3"/>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990"/>
              <a:buFont typeface="Arial"/>
              <a:buNone/>
            </a:pPr>
            <a:r>
              <a:rPr lang="en-US" sz="2784"/>
              <a:t>Future Innovation Project #3 for Space X Data Science</a:t>
            </a:r>
            <a:endParaRPr sz="2784"/>
          </a:p>
          <a:p>
            <a:pPr indent="0" lvl="0" marL="0" rtl="0" algn="ctr">
              <a:spcBef>
                <a:spcPts val="0"/>
              </a:spcBef>
              <a:spcAft>
                <a:spcPts val="0"/>
              </a:spcAft>
              <a:buSzPts val="990"/>
              <a:buNone/>
            </a:pPr>
            <a:r>
              <a:t/>
            </a:r>
            <a:endParaRPr sz="3959"/>
          </a:p>
        </p:txBody>
      </p:sp>
      <p:sp>
        <p:nvSpPr>
          <p:cNvPr id="467" name="Google Shape;467;p73"/>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800">
                <a:latin typeface="Arial"/>
                <a:ea typeface="Arial"/>
                <a:cs typeface="Arial"/>
                <a:sym typeface="Arial"/>
              </a:rPr>
              <a:t>Natural Language Processing (NLP) for Mission Documentation Insights</a:t>
            </a:r>
            <a:endParaRPr b="1" sz="18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b="1" lang="en-US" sz="1600">
                <a:latin typeface="Arial"/>
                <a:ea typeface="Arial"/>
                <a:cs typeface="Arial"/>
                <a:sym typeface="Arial"/>
              </a:rPr>
              <a:t>Idea</a:t>
            </a:r>
            <a:r>
              <a:rPr lang="en-US" sz="1600">
                <a:latin typeface="Arial"/>
                <a:ea typeface="Arial"/>
                <a:cs typeface="Arial"/>
                <a:sym typeface="Arial"/>
              </a:rPr>
              <a:t>: Use NLP to process thousands of SpaceX internal documents, technical logs, and engineer notes to surface:</a:t>
            </a:r>
            <a:endParaRPr sz="1600">
              <a:latin typeface="Arial"/>
              <a:ea typeface="Arial"/>
              <a:cs typeface="Arial"/>
              <a:sym typeface="Arial"/>
            </a:endParaRPr>
          </a:p>
          <a:p>
            <a:pPr indent="-330200" lvl="0" marL="457200" rtl="0" algn="l">
              <a:lnSpc>
                <a:spcPct val="115000"/>
              </a:lnSpc>
              <a:spcBef>
                <a:spcPts val="1800"/>
              </a:spcBef>
              <a:spcAft>
                <a:spcPts val="0"/>
              </a:spcAft>
              <a:buSzPts val="1600"/>
              <a:buChar char="●"/>
            </a:pPr>
            <a:r>
              <a:rPr lang="en-US" sz="1600">
                <a:latin typeface="Arial"/>
                <a:ea typeface="Arial"/>
                <a:cs typeface="Arial"/>
                <a:sym typeface="Arial"/>
              </a:rPr>
              <a:t>Recurring failure modes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Knowledge transfer opportunities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Design evolution over time</a:t>
            </a:r>
            <a:endParaRPr sz="1600">
              <a:latin typeface="Arial"/>
              <a:ea typeface="Arial"/>
              <a:cs typeface="Arial"/>
              <a:sym typeface="Arial"/>
            </a:endParaRPr>
          </a:p>
          <a:p>
            <a:pPr indent="0" lvl="0" marL="0" rtl="0" algn="l">
              <a:lnSpc>
                <a:spcPct val="115000"/>
              </a:lnSpc>
              <a:spcBef>
                <a:spcPts val="1800"/>
              </a:spcBef>
              <a:spcAft>
                <a:spcPts val="0"/>
              </a:spcAft>
              <a:buNone/>
            </a:pPr>
            <a:br>
              <a:rPr lang="en-US" sz="1600">
                <a:latin typeface="Arial"/>
                <a:ea typeface="Arial"/>
                <a:cs typeface="Arial"/>
                <a:sym typeface="Arial"/>
              </a:rPr>
            </a:br>
            <a:r>
              <a:rPr b="1" lang="en-US" sz="1600">
                <a:latin typeface="Arial"/>
                <a:ea typeface="Arial"/>
                <a:cs typeface="Arial"/>
                <a:sym typeface="Arial"/>
              </a:rPr>
              <a:t>Tech stack</a:t>
            </a:r>
            <a:r>
              <a:rPr lang="en-US" sz="1600">
                <a:latin typeface="Arial"/>
                <a:ea typeface="Arial"/>
                <a:cs typeface="Arial"/>
                <a:sym typeface="Arial"/>
              </a:rPr>
              <a:t>:</a:t>
            </a:r>
            <a:br>
              <a:rPr lang="en-US" sz="1600">
                <a:latin typeface="Arial"/>
                <a:ea typeface="Arial"/>
                <a:cs typeface="Arial"/>
                <a:sym typeface="Arial"/>
              </a:rPr>
            </a:br>
            <a:r>
              <a:rPr lang="en-US" sz="1600">
                <a:latin typeface="Arial"/>
                <a:ea typeface="Arial"/>
                <a:cs typeface="Arial"/>
                <a:sym typeface="Arial"/>
              </a:rPr>
              <a:t>Topic modeling (LDA)</a:t>
            </a:r>
            <a:br>
              <a:rPr lang="en-US" sz="1600">
                <a:latin typeface="Arial"/>
                <a:ea typeface="Arial"/>
                <a:cs typeface="Arial"/>
                <a:sym typeface="Arial"/>
              </a:rPr>
            </a:br>
            <a:r>
              <a:rPr lang="en-US" sz="1600">
                <a:latin typeface="Arial"/>
                <a:ea typeface="Arial"/>
                <a:cs typeface="Arial"/>
                <a:sym typeface="Arial"/>
              </a:rPr>
              <a:t>Named entity recognition (NER)</a:t>
            </a:r>
            <a:br>
              <a:rPr lang="en-US" sz="1600">
                <a:latin typeface="Arial"/>
                <a:ea typeface="Arial"/>
                <a:cs typeface="Arial"/>
                <a:sym typeface="Arial"/>
              </a:rPr>
            </a:br>
            <a:r>
              <a:rPr lang="en-US" sz="1600">
                <a:latin typeface="Arial"/>
                <a:ea typeface="Arial"/>
                <a:cs typeface="Arial"/>
                <a:sym typeface="Arial"/>
              </a:rPr>
              <a:t>Semantic search (e.g., SBERT)</a:t>
            </a:r>
            <a:endParaRPr sz="1600">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Conclusion &amp; Thank You</a:t>
            </a:r>
            <a:endParaRPr/>
          </a:p>
        </p:txBody>
      </p:sp>
      <p:sp>
        <p:nvSpPr>
          <p:cNvPr id="473" name="Google Shape;473;p7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1200"/>
              </a:spcBef>
              <a:spcAft>
                <a:spcPts val="0"/>
              </a:spcAft>
              <a:buClr>
                <a:schemeClr val="dk1"/>
              </a:buClr>
              <a:buSzPts val="1100"/>
              <a:buFont typeface="Arial"/>
              <a:buNone/>
            </a:pPr>
            <a:r>
              <a:rPr b="1" lang="en-US" sz="1700">
                <a:latin typeface="Arial"/>
                <a:ea typeface="Arial"/>
                <a:cs typeface="Arial"/>
                <a:sym typeface="Arial"/>
              </a:rPr>
              <a:t>🚀 Key Takeaways</a:t>
            </a:r>
            <a:endParaRPr b="1" sz="1700">
              <a:latin typeface="Arial"/>
              <a:ea typeface="Arial"/>
              <a:cs typeface="Arial"/>
              <a:sym typeface="Arial"/>
            </a:endParaRPr>
          </a:p>
          <a:p>
            <a:pPr indent="-336550" lvl="0" marL="457200" rtl="0" algn="l">
              <a:lnSpc>
                <a:spcPct val="115000"/>
              </a:lnSpc>
              <a:spcBef>
                <a:spcPts val="1800"/>
              </a:spcBef>
              <a:spcAft>
                <a:spcPts val="0"/>
              </a:spcAft>
              <a:buSzPts val="1700"/>
              <a:buChar char="●"/>
            </a:pPr>
            <a:r>
              <a:rPr lang="en-US" sz="1700">
                <a:latin typeface="Arial"/>
                <a:ea typeface="Arial"/>
                <a:cs typeface="Arial"/>
                <a:sym typeface="Arial"/>
              </a:rPr>
              <a:t>We explored how </a:t>
            </a:r>
            <a:r>
              <a:rPr b="1" lang="en-US" sz="1700">
                <a:latin typeface="Arial"/>
                <a:ea typeface="Arial"/>
                <a:cs typeface="Arial"/>
                <a:sym typeface="Arial"/>
              </a:rPr>
              <a:t>data science</a:t>
            </a:r>
            <a:r>
              <a:rPr lang="en-US" sz="1700">
                <a:latin typeface="Arial"/>
                <a:ea typeface="Arial"/>
                <a:cs typeface="Arial"/>
                <a:sym typeface="Arial"/>
              </a:rPr>
              <a:t> can optimize </a:t>
            </a:r>
            <a:r>
              <a:rPr b="1" lang="en-US" sz="1700">
                <a:latin typeface="Arial"/>
                <a:ea typeface="Arial"/>
                <a:cs typeface="Arial"/>
                <a:sym typeface="Arial"/>
              </a:rPr>
              <a:t>SpaceX launch scheduling</a:t>
            </a:r>
            <a:br>
              <a:rPr b="1" lang="en-US" sz="1700">
                <a:latin typeface="Arial"/>
                <a:ea typeface="Arial"/>
                <a:cs typeface="Arial"/>
                <a:sym typeface="Arial"/>
              </a:rPr>
            </a:br>
            <a:endParaRPr b="1"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Machine learning models help </a:t>
            </a:r>
            <a:r>
              <a:rPr b="1" lang="en-US" sz="1700">
                <a:latin typeface="Arial"/>
                <a:ea typeface="Arial"/>
                <a:cs typeface="Arial"/>
                <a:sym typeface="Arial"/>
              </a:rPr>
              <a:t>predict success probabilities</a:t>
            </a:r>
            <a:r>
              <a:rPr lang="en-US" sz="1700">
                <a:latin typeface="Arial"/>
                <a:ea typeface="Arial"/>
                <a:cs typeface="Arial"/>
                <a:sym typeface="Arial"/>
              </a:rPr>
              <a:t> using real-world data</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Integration of weather, solar activity, and rocket readiness enhances decision-making</a:t>
            </a:r>
            <a:endParaRPr sz="1700">
              <a:latin typeface="Arial"/>
              <a:ea typeface="Arial"/>
              <a:cs typeface="Arial"/>
              <a:sym typeface="Arial"/>
            </a:endParaRPr>
          </a:p>
          <a:p>
            <a:pPr indent="0" lvl="0" marL="0" rtl="0" algn="l">
              <a:lnSpc>
                <a:spcPct val="115000"/>
              </a:lnSpc>
              <a:spcBef>
                <a:spcPts val="1800"/>
              </a:spcBef>
              <a:spcAft>
                <a:spcPts val="0"/>
              </a:spcAft>
              <a:buNone/>
            </a:pPr>
            <a:r>
              <a:rPr b="1" lang="en-US" sz="1900">
                <a:latin typeface="Arial"/>
                <a:ea typeface="Arial"/>
                <a:cs typeface="Arial"/>
                <a:sym typeface="Arial"/>
              </a:rPr>
              <a:t>🙏 Thank You!</a:t>
            </a:r>
            <a:endParaRPr b="1" sz="1900">
              <a:latin typeface="Arial"/>
              <a:ea typeface="Arial"/>
              <a:cs typeface="Arial"/>
              <a:sym typeface="Arial"/>
            </a:endParaRPr>
          </a:p>
          <a:p>
            <a:pPr indent="0" lvl="0" marL="0" rtl="0" algn="l">
              <a:lnSpc>
                <a:spcPct val="115000"/>
              </a:lnSpc>
              <a:spcBef>
                <a:spcPts val="1800"/>
              </a:spcBef>
              <a:spcAft>
                <a:spcPts val="0"/>
              </a:spcAft>
              <a:buNone/>
            </a:pPr>
            <a:r>
              <a:rPr b="1" lang="en-US" sz="1700">
                <a:latin typeface="Arial"/>
                <a:ea typeface="Arial"/>
                <a:cs typeface="Arial"/>
                <a:sym typeface="Arial"/>
              </a:rPr>
              <a:t>Questions or feedback?</a:t>
            </a:r>
            <a:br>
              <a:rPr b="1" lang="en-US" sz="1700">
                <a:latin typeface="Arial"/>
                <a:ea typeface="Arial"/>
                <a:cs typeface="Arial"/>
                <a:sym typeface="Arial"/>
              </a:rPr>
            </a:br>
            <a:r>
              <a:rPr lang="en-US" sz="1700">
                <a:latin typeface="Arial"/>
                <a:ea typeface="Arial"/>
                <a:cs typeface="Arial"/>
                <a:sym typeface="Arial"/>
              </a:rPr>
              <a:t> .</a:t>
            </a:r>
            <a:br>
              <a:rPr lang="en-US" sz="1700">
                <a:latin typeface="Arial"/>
                <a:ea typeface="Arial"/>
                <a:cs typeface="Arial"/>
                <a:sym typeface="Arial"/>
              </a:rPr>
            </a:br>
            <a:r>
              <a:rPr lang="en-US" sz="1700">
                <a:latin typeface="Arial"/>
                <a:ea typeface="Arial"/>
                <a:cs typeface="Arial"/>
                <a:sym typeface="Arial"/>
              </a:rPr>
              <a:t> 📧 </a:t>
            </a:r>
            <a:r>
              <a:rPr i="1" lang="en-US" sz="1700">
                <a:latin typeface="Arial"/>
                <a:ea typeface="Arial"/>
                <a:cs typeface="Arial"/>
                <a:sym typeface="Arial"/>
              </a:rPr>
              <a:t>dariocccamo@myyahoo.com</a:t>
            </a:r>
            <a:r>
              <a:rPr lang="en-US" sz="1700">
                <a:latin typeface="Arial"/>
                <a:ea typeface="Arial"/>
                <a:cs typeface="Arial"/>
                <a:sym typeface="Arial"/>
              </a:rPr>
              <a:t> | 🌐 </a:t>
            </a:r>
            <a:r>
              <a:rPr i="1" lang="en-US" sz="1700">
                <a:latin typeface="Arial"/>
                <a:ea typeface="Arial"/>
                <a:cs typeface="Arial"/>
                <a:sym typeface="Arial"/>
              </a:rPr>
              <a:t>LinkedIn / GitHub / Portfolio</a:t>
            </a:r>
            <a:endParaRPr i="1" sz="1700">
              <a:latin typeface="Arial"/>
              <a:ea typeface="Arial"/>
              <a:cs typeface="Arial"/>
              <a:sym typeface="Arial"/>
            </a:endParaRPr>
          </a:p>
          <a:p>
            <a:pPr indent="0" lvl="0" marL="0" rtl="0" algn="l">
              <a:spcBef>
                <a:spcPts val="1800"/>
              </a:spcBef>
              <a:spcAft>
                <a:spcPts val="0"/>
              </a:spcAft>
              <a:buNone/>
            </a:pPr>
            <a:r>
              <a:rPr lang="en-US"/>
              <a:t>Let’s “boldly go where no man has gone before”.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